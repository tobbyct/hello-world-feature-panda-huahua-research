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68159" y="1404519"/>
            <a:ext cx="3683202" cy="3683202"/>
          </a:xfrm>
          <a:prstGeom prst="ellipse">
            <a:avLst/>
          </a:prstGeom>
          <a:solidFill>
            <a:srgbClr val="9CD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uahua_circle_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08760"/>
            <a:ext cx="34747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2344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CD66B"/>
                </a:solidFill>
                <a:latin typeface="Microsoft YaHei"/>
                <a:ea typeface="Microsoft YaHei"/>
              </a:rPr>
              <a:t>AI 互动陪伴机器人 · 投资人汇报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8046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Microsoft YaHei"/>
                <a:ea typeface="Microsoft YaHei"/>
              </a:rPr>
              <a:t>熊猫花花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EDEFE8"/>
                </a:solidFill>
                <a:latin typeface="Microsoft YaHei"/>
                <a:ea typeface="Microsoft YaHei"/>
              </a:rPr>
              <a:t>全球第一只 1:1 拟真、会眨眼、会动手脚、会对话、会成长的桌面陪伴熊猫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1:1拟真外形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206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仿生眼神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206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可动手脚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206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对话·养成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9BEB2"/>
                </a:solidFill>
                <a:latin typeface="Microsoft YaHei"/>
                <a:ea typeface="Microsoft YaHei"/>
              </a:rPr>
              <a:t>基于现象级熊猫 IP「花花」 ｜ 2026 ｜ 商业计划摘要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WHY NOW · 行业痛点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陪伴机器人的「不可能三角」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F6A"/>
                </a:solidFill>
                <a:latin typeface="Microsoft YaHei"/>
                <a:ea typeface="Microsoft YaHei"/>
              </a:rPr>
              <a:t>市场上的产品几乎只能做到三点中的一到两点，没有人同时做全。</a:t>
            </a:r>
          </a:p>
        </p:txBody>
      </p:sp>
      <p:sp>
        <p:nvSpPr>
          <p:cNvPr id="8" name="Oval 7"/>
          <p:cNvSpPr/>
          <p:nvPr/>
        </p:nvSpPr>
        <p:spPr>
          <a:xfrm>
            <a:off x="1691640" y="1691640"/>
            <a:ext cx="2468880" cy="2468880"/>
          </a:xfrm>
          <a:prstGeom prst="ellipse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42316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生动的物理动作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7180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会动的机械结构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(眼/头/四肢/行走)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1691640"/>
            <a:ext cx="2468880" cy="2468880"/>
          </a:xfrm>
          <a:prstGeom prst="ellipse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42316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自然的智能对话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7180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大模型理解与表达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3886200"/>
            <a:ext cx="2468880" cy="2468880"/>
          </a:xfrm>
          <a:prstGeom prst="ellipse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61772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有温度的情感陪伴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1663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IP / 养成 / 性格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6576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三者兼得 =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稀缺空白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669280"/>
            <a:ext cx="10698480" cy="777240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</a:rPr>
              <a:t>Loona 偏机器狗(无IP/屏幕画眼) · Moflin/Ropet 软萌但几乎不能动 · BubblePal 只是会说话的插件 —— 花花要一次补齐三角。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MARKET · 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毛绒玩具的 AI 升级窗口已经打开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34564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146304" cy="1828800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28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4C9A2A"/>
                </a:solidFill>
                <a:latin typeface="Microsoft YaHei"/>
                <a:ea typeface="Microsoft YaHei"/>
              </a:rPr>
              <a:t>$138.9 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9748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6F6A"/>
                </a:solidFill>
                <a:latin typeface="Microsoft YaHei"/>
                <a:ea typeface="Microsoft YaHei"/>
              </a:rPr>
              <a:t>2025 全球毛绒玩具市场规模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564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146304" cy="1828800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28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8A82B"/>
                </a:solidFill>
                <a:latin typeface="Microsoft YaHei"/>
                <a:ea typeface="Microsoft YaHei"/>
              </a:rPr>
              <a:t>$285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9748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6F6A"/>
                </a:solidFill>
                <a:latin typeface="Microsoft YaHei"/>
                <a:ea typeface="Microsoft YaHei"/>
              </a:rPr>
              <a:t>2034 预计市场规模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600200"/>
            <a:ext cx="34564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1600200"/>
            <a:ext cx="146304" cy="1828800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828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7A93"/>
                </a:solidFill>
                <a:latin typeface="Microsoft YaHei"/>
                <a:ea typeface="Microsoft YaHei"/>
              </a:rPr>
              <a:t>14–16%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69748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6F6A"/>
                </a:solidFill>
                <a:latin typeface="Microsoft YaHei"/>
                <a:ea typeface="Microsoft YaHei"/>
              </a:rPr>
              <a:t>AI 玩具子赛道年复合增速 (CAGR)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947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Microsoft YaHei"/>
                <a:ea typeface="Microsoft YaHei"/>
              </a:rPr>
              <a:t>驱动趋势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5156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500" b="1">
                <a:solidFill>
                  <a:srgbClr val="1A1A1A"/>
                </a:solidFill>
                <a:latin typeface="Microsoft YaHei"/>
                <a:ea typeface="Microsoft YaHei"/>
              </a:rPr>
              <a:t>从功能玩具到情感伙伴</a:t>
            </a:r>
            <a:r>
              <a:rPr sz="1500">
                <a:solidFill>
                  <a:srgbClr val="1A1A1A"/>
                </a:solidFill>
                <a:latin typeface="Microsoft YaHei"/>
                <a:ea typeface="Microsoft YaHei"/>
              </a:rPr>
              <a:t>：用户付费意愿从「好玩」转向「陪伴 / 疗愈 / 养成」，复购与黏性更高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500" b="1">
                <a:solidFill>
                  <a:srgbClr val="1A1A1A"/>
                </a:solidFill>
                <a:latin typeface="Microsoft YaHei"/>
                <a:ea typeface="Microsoft YaHei"/>
              </a:rPr>
              <a:t>大模型平价化</a:t>
            </a:r>
            <a:r>
              <a:rPr sz="1500">
                <a:solidFill>
                  <a:srgbClr val="1A1A1A"/>
                </a:solidFill>
                <a:latin typeface="Microsoft YaHei"/>
                <a:ea typeface="Microsoft YaHei"/>
              </a:rPr>
              <a:t>：DeepSeek / 豆包 / GPT-4o 让自然对话成本骤降，AI 玩具迎来爆发窗口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500" b="1">
                <a:solidFill>
                  <a:srgbClr val="1A1A1A"/>
                </a:solidFill>
                <a:latin typeface="Microsoft YaHei"/>
                <a:ea typeface="Microsoft YaHei"/>
              </a:rPr>
              <a:t>端侧 AI 成熟</a:t>
            </a:r>
            <a:r>
              <a:rPr sz="1500">
                <a:solidFill>
                  <a:srgbClr val="1A1A1A"/>
                </a:solidFill>
                <a:latin typeface="Microsoft YaHei"/>
                <a:ea typeface="Microsoft YaHei"/>
              </a:rPr>
              <a:t>：RK3588(6 TOPS NPU) 等让本地推理、隐私保护、低延迟成为可能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500" b="1">
                <a:solidFill>
                  <a:srgbClr val="1A1A1A"/>
                </a:solidFill>
                <a:latin typeface="Microsoft YaHei"/>
                <a:ea typeface="Microsoft YaHei"/>
              </a:rPr>
              <a:t>IP 驱动溢价</a:t>
            </a:r>
            <a:r>
              <a:rPr sz="1500">
                <a:solidFill>
                  <a:srgbClr val="1A1A1A"/>
                </a:solidFill>
                <a:latin typeface="Microsoft YaHei"/>
                <a:ea typeface="Microsoft YaHei"/>
              </a:rPr>
              <a:t>：泡泡玛特验证「IP+情感」强变现力，花花是稀缺的现象级真实熊猫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6A"/>
                </a:solidFill>
                <a:latin typeface="Microsoft YaHei"/>
                <a:ea typeface="Microsoft YaHei"/>
              </a:rPr>
              <a:t>数据来源：第三方行业报告(accio / keyirobot 等)，已按合规改写，正式 BP 需交叉核验权威机构口径。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COMPETITION · 竞品对比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主流桌面互动陪伴机器人横向对比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694145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2785" y="1554480"/>
            <a:ext cx="1544662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形态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7447" y="1554480"/>
            <a:ext cx="1146039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价格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3486" y="1554480"/>
            <a:ext cx="1096211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大模型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9697" y="1554480"/>
            <a:ext cx="1146039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可动肢体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5736" y="1554480"/>
            <a:ext cx="1146039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拟真外形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775" y="1554480"/>
            <a:ext cx="1046384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仿生眼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8159" y="1554480"/>
            <a:ext cx="1245695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成长系统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13854" y="1554480"/>
            <a:ext cx="1026453" cy="5303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强IP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084832"/>
            <a:ext cx="169414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Loona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2785" y="2084832"/>
            <a:ext cx="154466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机器狗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7447" y="2084832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$449+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3486" y="2084832"/>
            <a:ext cx="1096211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9697" y="2084832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部分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5736" y="2084832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775" y="2084832"/>
            <a:ext cx="10463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屏幕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8159" y="2084832"/>
            <a:ext cx="1245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13854" y="2084832"/>
            <a:ext cx="1026453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15184"/>
            <a:ext cx="1694145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Vector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2785" y="2615184"/>
            <a:ext cx="1544662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履带机器人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7447" y="2615184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$399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3486" y="2615184"/>
            <a:ext cx="1096211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29697" y="2615184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5736" y="2615184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775" y="2615184"/>
            <a:ext cx="1046384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屏幕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68159" y="2615184"/>
            <a:ext cx="1245695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13854" y="2615184"/>
            <a:ext cx="1026453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45536"/>
            <a:ext cx="169414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Eilik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2785" y="3145536"/>
            <a:ext cx="154466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桌面机器人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7447" y="3145536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$129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3486" y="3145536"/>
            <a:ext cx="1096211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9697" y="3145536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手臂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5736" y="3145536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775" y="3145536"/>
            <a:ext cx="10463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屏幕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8159" y="3145536"/>
            <a:ext cx="1245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13854" y="3145536"/>
            <a:ext cx="1026453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75888"/>
            <a:ext cx="1694145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Ropet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42785" y="3675888"/>
            <a:ext cx="1544662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毛绒AI宠物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7447" y="3675888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$299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3486" y="3675888"/>
            <a:ext cx="1096211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29697" y="3675888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5736" y="3675888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部分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775" y="3675888"/>
            <a:ext cx="1046384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屏幕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68159" y="3675888"/>
            <a:ext cx="1245695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13854" y="3675888"/>
            <a:ext cx="1026453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206240"/>
            <a:ext cx="169414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Moflin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42785" y="4206240"/>
            <a:ext cx="154466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毛绒小宠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87447" y="4206240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~$400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3486" y="4206240"/>
            <a:ext cx="1096211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29697" y="4206240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5736" y="4206240"/>
            <a:ext cx="1146039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775" y="4206240"/>
            <a:ext cx="10463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68159" y="4206240"/>
            <a:ext cx="124569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F6B1C"/>
                </a:solidFill>
                <a:latin typeface="Microsoft YaHei"/>
                <a:ea typeface="Microsoft YaHei"/>
              </a:rPr>
              <a:t>✓✓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13854" y="4206240"/>
            <a:ext cx="1026453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736592"/>
            <a:ext cx="1694145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BubblePal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2785" y="4736592"/>
            <a:ext cx="1544662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语音挂件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87447" y="4736592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~$99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3486" y="4736592"/>
            <a:ext cx="1096211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29697" y="4736592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5736" y="4736592"/>
            <a:ext cx="1146039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775" y="4736592"/>
            <a:ext cx="1046384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68159" y="4736592"/>
            <a:ext cx="1245695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13854" y="4736592"/>
            <a:ext cx="1026453" cy="530352"/>
          </a:xfrm>
          <a:prstGeom prst="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C04040"/>
                </a:solidFill>
                <a:latin typeface="Microsoft YaHei"/>
                <a:ea typeface="Microsoft YaHei"/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266944"/>
            <a:ext cx="1694145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熊猫花花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42785" y="5266944"/>
            <a:ext cx="1544662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1:1拟真熊猫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87447" y="5266944"/>
            <a:ext cx="1146039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¥1499+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3486" y="5266944"/>
            <a:ext cx="1096211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29697" y="5266944"/>
            <a:ext cx="1146039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8A82B"/>
                </a:solidFill>
                <a:latin typeface="Microsoft YaHei"/>
                <a:ea typeface="Microsoft YaHei"/>
              </a:rPr>
              <a:t>✓✓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75736" y="5266944"/>
            <a:ext cx="1146039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8A82B"/>
                </a:solidFill>
                <a:latin typeface="Microsoft YaHei"/>
                <a:ea typeface="Microsoft YaHei"/>
              </a:rPr>
              <a:t>✓✓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21775" y="5266944"/>
            <a:ext cx="1046384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8A82B"/>
                </a:solidFill>
                <a:latin typeface="Microsoft YaHei"/>
                <a:ea typeface="Microsoft YaHei"/>
              </a:rPr>
              <a:t>✓✓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68159" y="5266944"/>
            <a:ext cx="1245695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8A82B"/>
                </a:solidFill>
                <a:latin typeface="Microsoft YaHei"/>
                <a:ea typeface="Microsoft YaHei"/>
              </a:rPr>
              <a:t>✓✓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613854" y="5266944"/>
            <a:ext cx="1026453" cy="53035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8A82B"/>
                </a:solidFill>
                <a:latin typeface="Microsoft YaHei"/>
                <a:ea typeface="Microsoft YaHei"/>
              </a:rPr>
              <a:t>✓✓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结论：没有任一竞品同时具备「1:1拟真熊猫(零机械裸露) + 仿生眼 + 可动四肢 + 大模型 + 成长 + 现象级IP」。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COMPETITION · 优缺点剖析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四类代表竞品的优势与短板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54480"/>
            <a:ext cx="528523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713232" y="1554480"/>
            <a:ext cx="5285232" cy="566928"/>
          </a:xfrm>
          <a:prstGeom prst="round2Same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09344"/>
            <a:ext cx="4919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Loona  最强动作派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86000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F6B1C"/>
                </a:solidFill>
                <a:latin typeface="Microsoft YaHei"/>
                <a:ea typeface="Microsoft YaHei"/>
              </a:rPr>
              <a:t>优: 5 TOPS BPU+4舵机, 动作流畅, ToF避障, GPT-4o, 700+表情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35808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B03A3A"/>
                </a:solidFill>
                <a:latin typeface="Microsoft YaHei"/>
                <a:ea typeface="Microsoft YaHei"/>
              </a:rPr>
              <a:t>缺: 塑料机器狗形态, 无柔软可抱感, 眼睛是屏幕, 无IP, 价高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554480"/>
            <a:ext cx="528523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199632" y="1554480"/>
            <a:ext cx="5285232" cy="566928"/>
          </a:xfrm>
          <a:prstGeom prst="round2Same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09344"/>
            <a:ext cx="4919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Ropet  最强毛绒养成派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86000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F6B1C"/>
                </a:solidFill>
                <a:latin typeface="Microsoft YaHei"/>
                <a:ea typeface="Microsoft YaHei"/>
              </a:rPr>
              <a:t>优: 软萌可抱, 视觉情感识别, 养成系统, 已售约2万台并完成A轮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035808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B03A3A"/>
                </a:solidFill>
                <a:latin typeface="Microsoft YaHei"/>
                <a:ea typeface="Microsoft YaHei"/>
              </a:rPr>
              <a:t>缺: 几乎不能动(无四肢/行走), 眼睛仍是屏幕, 续航一般, 无IP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77640"/>
            <a:ext cx="528523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713232" y="3977640"/>
            <a:ext cx="5285232" cy="566928"/>
          </a:xfrm>
          <a:prstGeom prst="round2Same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32504"/>
            <a:ext cx="4919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Moflin/Casio  最强情感派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709160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F6B1C"/>
                </a:solidFill>
                <a:latin typeface="Microsoft YaHei"/>
                <a:ea typeface="Microsoft YaHei"/>
              </a:rPr>
              <a:t>优: 情感AI与性格成长顶级, 宣称400万种情感画像, 品牌背书强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458968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B03A3A"/>
                </a:solidFill>
                <a:latin typeface="Microsoft YaHei"/>
                <a:ea typeface="Microsoft YaHei"/>
              </a:rPr>
              <a:t>缺: 无四肢/不能动/不说话, 交互偏单向, 价格高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77640"/>
            <a:ext cx="528523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6199632" y="3977640"/>
            <a:ext cx="5285232" cy="566928"/>
          </a:xfrm>
          <a:prstGeom prst="round2Same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032504"/>
            <a:ext cx="4919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BubblePal  最轻插件派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709160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F6B1C"/>
                </a:solidFill>
                <a:latin typeface="Microsoft YaHei"/>
                <a:ea typeface="Microsoft YaHei"/>
              </a:rPr>
              <a:t>优: 成本极低, 即插即用, 可绑任意玩偶让其开口说话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458968"/>
            <a:ext cx="4782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B03A3A"/>
                </a:solidFill>
                <a:latin typeface="Microsoft YaHei"/>
                <a:ea typeface="Microsoft YaHei"/>
              </a:rPr>
              <a:t>缺: 没有任何机械动作与生命感, 本质是语音模块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CD66B"/>
                </a:solidFill>
                <a:latin typeface="Microsoft YaHei"/>
                <a:ea typeface="Microsoft YaHei"/>
              </a:rPr>
              <a:t>PRODUCT ·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熊猫花花 = 1:1 拟真熊猫 × 真实生命感 × 智能大脑</a:t>
            </a:r>
          </a:p>
        </p:txBody>
      </p:sp>
      <p:sp>
        <p:nvSpPr>
          <p:cNvPr id="5" name="Oval 4"/>
          <p:cNvSpPr/>
          <p:nvPr/>
        </p:nvSpPr>
        <p:spPr>
          <a:xfrm>
            <a:off x="8044892" y="2375612"/>
            <a:ext cx="3295496" cy="3295496"/>
          </a:xfrm>
          <a:prstGeom prst="ellipse">
            <a:avLst/>
          </a:prstGeom>
          <a:solidFill>
            <a:srgbClr val="33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uahua_circle_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468880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920240"/>
            <a:ext cx="786384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9CD66B"/>
                </a:solidFill>
                <a:latin typeface="Microsoft YaHei"/>
              </a:rPr>
              <a:t>●  </a:t>
            </a:r>
            <a:r>
              <a:rPr sz="1500" b="1">
                <a:solidFill>
                  <a:srgbClr val="ECEFE8"/>
                </a:solidFill>
                <a:latin typeface="Microsoft YaHei"/>
                <a:ea typeface="Microsoft YaHei"/>
              </a:rPr>
              <a:t>目标人群</a:t>
            </a:r>
            <a:r>
              <a:rPr sz="1500">
                <a:solidFill>
                  <a:srgbClr val="ECEFE8"/>
                </a:solidFill>
                <a:latin typeface="Microsoft YaHei"/>
                <a:ea typeface="Microsoft YaHei"/>
              </a:rPr>
              <a:t>：Z世代/女性情感消费者、亲子家庭、熊猫/国潮IP粉丝、(二期)适老陪伴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9CD66B"/>
                </a:solidFill>
                <a:latin typeface="Microsoft YaHei"/>
              </a:rPr>
              <a:t>●  </a:t>
            </a:r>
            <a:r>
              <a:rPr sz="1500" b="1">
                <a:solidFill>
                  <a:srgbClr val="ECEFE8"/>
                </a:solidFill>
                <a:latin typeface="Microsoft YaHei"/>
                <a:ea typeface="Microsoft YaHei"/>
              </a:rPr>
              <a:t>核心场景</a:t>
            </a:r>
            <a:r>
              <a:rPr sz="1500">
                <a:solidFill>
                  <a:srgbClr val="ECEFE8"/>
                </a:solidFill>
                <a:latin typeface="Microsoft YaHei"/>
                <a:ea typeface="Microsoft YaHei"/>
              </a:rPr>
              <a:t>：桌面陪伴、情绪互动、语音问答、招手/作揖/撒娇等肢体表演、养成打卡、IP联动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五大护城河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14600" cy="155448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2514600" cy="109728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7A93"/>
                </a:solidFill>
                <a:latin typeface="Microsoft YaHei"/>
                <a:ea typeface="Microsoft YaHei"/>
              </a:rPr>
              <a:t>拟真外形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1:1真熊猫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全身毛绒·零机械裸露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206240"/>
            <a:ext cx="2514600" cy="155448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4206240"/>
            <a:ext cx="2514600" cy="109728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437083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C9A2A"/>
                </a:solidFill>
                <a:latin typeface="Microsoft YaHei"/>
                <a:ea typeface="Microsoft YaHei"/>
              </a:rPr>
              <a:t>IP 壁垒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9377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独家花花IP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形象/性格/声音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4206240"/>
            <a:ext cx="2514600" cy="155448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71616" y="4206240"/>
            <a:ext cx="2514600" cy="109728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437083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A82B"/>
                </a:solidFill>
                <a:latin typeface="Microsoft YaHei"/>
                <a:ea typeface="Microsoft YaHei"/>
              </a:rPr>
              <a:t>仿生眼神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49377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眼球+眼皮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机械仿生眼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41664" y="4206240"/>
            <a:ext cx="2514600" cy="155448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41664" y="4206240"/>
            <a:ext cx="2514600" cy="109728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4544" y="437083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8DEF"/>
                </a:solidFill>
                <a:latin typeface="Microsoft YaHei"/>
                <a:ea typeface="Microsoft YaHei"/>
              </a:rPr>
              <a:t>成长飞轮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49377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越互动越专属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7DBD2"/>
                </a:solidFill>
                <a:latin typeface="Microsoft YaHei"/>
                <a:ea typeface="Microsoft YaHei"/>
              </a:rPr>
              <a:t>迁移成本越高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TECH 1/4 · 仿生眼睛系统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会转动、会眨眼的机械仿生眼 (第一差异化)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F6A"/>
                </a:solidFill>
                <a:latin typeface="Microsoft YaHei"/>
                <a:ea typeface="Microsoft YaHei"/>
              </a:rPr>
              <a:t>采用机械仿生眼而非屏幕画眼 —— 这是与几乎所有竞品拉开「真实生命感」差距的关键。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54864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B1C"/>
                </a:solidFill>
                <a:latin typeface="Microsoft YaHei"/>
                <a:ea typeface="Microsoft YaHei"/>
              </a:rPr>
              <a:t>机构与驱动方案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502920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每只眼 3 个微型舵机</a:t>
            </a:r>
            <a:r>
              <a:rPr sz="1300">
                <a:solidFill>
                  <a:srgbClr val="1A1A1A"/>
                </a:solidFill>
                <a:latin typeface="Microsoft YaHei"/>
                <a:ea typeface="Microsoft YaHei"/>
              </a:rPr>
              <a:t>：2 轴控制眼球 X/Y 转动 + 1 轴控制眼皮开合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双眼共 6 舵机</a:t>
            </a:r>
            <a:r>
              <a:rPr sz="1300">
                <a:solidFill>
                  <a:srgbClr val="1A1A1A"/>
                </a:solidFill>
                <a:latin typeface="Microsoft YaHei"/>
                <a:ea typeface="Microsoft YaHei"/>
              </a:rPr>
              <a:t>：可实现注视、眨眼、眯眼、惊讶睁大、困倦半睁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万向节 + 推杆联动</a:t>
            </a:r>
            <a:r>
              <a:rPr sz="1300">
                <a:solidFill>
                  <a:srgbClr val="1A1A1A"/>
                </a:solidFill>
                <a:latin typeface="Microsoft YaHei"/>
                <a:ea typeface="Microsoft YaHei"/>
              </a:rPr>
              <a:t>，3D 打印紧凑机构,可塞进熊猫头部狭小空间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MCU(ESP32/STM32) 输出 PWM</a:t>
            </a:r>
            <a:r>
              <a:rPr sz="1300">
                <a:solidFill>
                  <a:srgbClr val="1A1A1A"/>
                </a:solidFill>
                <a:latin typeface="Microsoft YaHei"/>
                <a:ea typeface="Microsoft YaHei"/>
              </a:rPr>
              <a:t>，每眼≥3 路, 静音舵机降噪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前置摄像头检测人脸/视线</a:t>
            </a:r>
            <a:r>
              <a:rPr sz="1300">
                <a:solidFill>
                  <a:srgbClr val="1A1A1A"/>
                </a:solidFill>
                <a:latin typeface="Microsoft YaHei"/>
                <a:ea typeface="Microsoft YaHei"/>
              </a:rPr>
              <a:t>→ 眼球自动看向人, 实现对视与眼神跟随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5074920" cy="3931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128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情绪化眼神映射</a:t>
            </a:r>
          </a:p>
        </p:txBody>
      </p:sp>
      <p:sp>
        <p:nvSpPr>
          <p:cNvPr id="13" name="Oval 12"/>
          <p:cNvSpPr/>
          <p:nvPr/>
        </p:nvSpPr>
        <p:spPr>
          <a:xfrm>
            <a:off x="6519672" y="277063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92494" y="294345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277063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98334" y="294345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CFE8B8"/>
                </a:solidFill>
                <a:latin typeface="Microsoft YaHei"/>
                <a:ea typeface="Microsoft YaHei"/>
              </a:rPr>
              <a:t>睁眼·专注</a:t>
            </a:r>
          </a:p>
        </p:txBody>
      </p:sp>
      <p:sp>
        <p:nvSpPr>
          <p:cNvPr id="18" name="Oval 17"/>
          <p:cNvSpPr/>
          <p:nvPr/>
        </p:nvSpPr>
        <p:spPr>
          <a:xfrm>
            <a:off x="9445752" y="277063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8574" y="294345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45752" y="2770632"/>
            <a:ext cx="768096" cy="38404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51592" y="277063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24414" y="294345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51592" y="2770632"/>
            <a:ext cx="768096" cy="38404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611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CFE8B8"/>
                </a:solidFill>
                <a:latin typeface="Microsoft YaHei"/>
                <a:ea typeface="Microsoft YaHei"/>
              </a:rPr>
              <a:t>半睁·困倦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432511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2494" y="449793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4325112"/>
            <a:ext cx="768096" cy="652881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25512" y="432511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98334" y="449793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25512" y="4325112"/>
            <a:ext cx="768096" cy="652881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1663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CFE8B8"/>
                </a:solidFill>
                <a:latin typeface="Microsoft YaHei"/>
                <a:ea typeface="Microsoft YaHei"/>
              </a:rPr>
              <a:t>眨眼·闭合</a:t>
            </a:r>
          </a:p>
        </p:txBody>
      </p:sp>
      <p:sp>
        <p:nvSpPr>
          <p:cNvPr id="32" name="Oval 31"/>
          <p:cNvSpPr/>
          <p:nvPr/>
        </p:nvSpPr>
        <p:spPr>
          <a:xfrm>
            <a:off x="9445752" y="432511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18574" y="449793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51592" y="432511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24414" y="4497934"/>
            <a:ext cx="422452" cy="42245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51663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CFE8B8"/>
                </a:solidFill>
                <a:latin typeface="Microsoft YaHei"/>
                <a:ea typeface="Microsoft YaHei"/>
              </a:rPr>
              <a:t>睁大·惊喜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864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B9C8AD"/>
                </a:solidFill>
                <a:latin typeface="Microsoft YaHei"/>
                <a:ea typeface="Microsoft YaHei"/>
              </a:rPr>
              <a:t>情感引擎输出情绪标签 → 映射为眼球+眼皮动作曲线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TECH 1/4 · 内部结构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内部结构爆炸示意图：机构全部藏在毛绒下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F6A"/>
                </a:solidFill>
                <a:latin typeface="Microsoft YaHei"/>
                <a:ea typeface="Microsoft YaHei"/>
              </a:rPr>
              <a:t>由外到内 4 层：舵机 / 电子 / 线缆全部封装在毛绒蒙皮内，任何角度都看不到机械结构。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2487168" cy="17556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713232" y="1920240"/>
            <a:ext cx="2487168" cy="475488"/>
          </a:xfrm>
          <a:prstGeom prst="round2Same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① 拟真毛绒外皮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42032"/>
            <a:ext cx="21762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看到的就是真熊猫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可拆洗·背部隐藏拉链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920240"/>
            <a:ext cx="201168" cy="1755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6F6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920240"/>
            <a:ext cx="2487168" cy="17556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3364992" y="1920240"/>
            <a:ext cx="2487168" cy="475488"/>
          </a:xfrm>
          <a:prstGeom prst="round2Same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947672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② 弹性海绵/记忆棉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542032"/>
            <a:ext cx="21762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柔软可抱手感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包裹并隐藏机构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1920240"/>
            <a:ext cx="201168" cy="1755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6F6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1920240"/>
            <a:ext cx="2487168" cy="17556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016752" y="1920240"/>
            <a:ext cx="2487168" cy="475488"/>
          </a:xfrm>
          <a:prstGeom prst="round2Same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947672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③ 内骨骼 + 关节舵机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542032"/>
            <a:ext cx="21762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头2·前肢4·腰1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承力支架+仿生眼6舵机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1920240"/>
            <a:ext cx="201168" cy="1755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6F6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68512" y="1920240"/>
            <a:ext cx="2487168" cy="17556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68512" y="1920240"/>
            <a:ext cx="2487168" cy="475488"/>
          </a:xfrm>
          <a:prstGeom prst="round2Same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9952" y="1947672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④ 电子核心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542032"/>
            <a:ext cx="21762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ESP32(小智)·舵机驱动板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电池·麦克风/扬声器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803904"/>
            <a:ext cx="1076248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03904"/>
            <a:ext cx="10762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9CD66B"/>
                </a:solidFill>
                <a:latin typeface="Microsoft YaHei"/>
                <a:ea typeface="Microsoft YaHei"/>
              </a:rPr>
              <a:t>＝ 外观零机械裸露的真熊猫，却会眨眼 · 说话 · 招手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407408"/>
            <a:ext cx="10762488" cy="1901952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仿生眼模组（爆炸视图）· 双眼共 6 舵机 · 整体藏于熊猫头部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599" y="4910328"/>
            <a:ext cx="1005840" cy="914400"/>
          </a:xfrm>
          <a:prstGeom prst="roundRect">
            <a:avLst/>
          </a:prstGeom>
          <a:solidFill>
            <a:srgbClr val="2C332A"/>
          </a:solidFill>
          <a:ln w="12700">
            <a:solidFill>
              <a:srgbClr val="9CD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399" y="5824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CD2"/>
                </a:solidFill>
                <a:latin typeface="Microsoft YaHei"/>
                <a:ea typeface="Microsoft YaHei"/>
              </a:rPr>
              <a:t>3D打印支架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138928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7E8678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3048" y="4956048"/>
            <a:ext cx="420624" cy="310896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13048" y="5413248"/>
            <a:ext cx="420624" cy="310896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5824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CD2"/>
                </a:solidFill>
                <a:latin typeface="Microsoft YaHei"/>
                <a:ea typeface="Microsoft YaHei"/>
              </a:rPr>
              <a:t>X/Y 双轴舵机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5138928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7E8678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5321808"/>
            <a:ext cx="822960" cy="109728"/>
          </a:xfrm>
          <a:prstGeom prst="roundRect">
            <a:avLst/>
          </a:prstGeom>
          <a:solidFill>
            <a:srgbClr val="C9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43600" y="5093208"/>
            <a:ext cx="109728" cy="566928"/>
          </a:xfrm>
          <a:prstGeom prst="roundRect">
            <a:avLst/>
          </a:prstGeom>
          <a:solidFill>
            <a:srgbClr val="C9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5824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CD2"/>
                </a:solidFill>
                <a:latin typeface="Microsoft YaHei"/>
                <a:ea typeface="Microsoft YaHei"/>
              </a:rPr>
              <a:t>推杆/连杆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138928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7E8678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42" name="Oval 41"/>
          <p:cNvSpPr/>
          <p:nvPr/>
        </p:nvSpPr>
        <p:spPr>
          <a:xfrm>
            <a:off x="7635240" y="4910328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91272" y="5166360"/>
            <a:ext cx="402336" cy="40233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82712" y="52395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5824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CD2"/>
                </a:solidFill>
                <a:latin typeface="Microsoft YaHei"/>
                <a:ea typeface="Microsoft YaHei"/>
              </a:rPr>
              <a:t>眼球(可转)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5138928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7E8678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47" name="Round Same Side Corner Rectangle 46"/>
          <p:cNvSpPr/>
          <p:nvPr/>
        </p:nvSpPr>
        <p:spPr>
          <a:xfrm>
            <a:off x="9738360" y="4910328"/>
            <a:ext cx="914400" cy="457200"/>
          </a:xfrm>
          <a:prstGeom prst="round2Same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85248" y="5468112"/>
            <a:ext cx="420624" cy="310896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5824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D8DCD2"/>
                </a:solidFill>
                <a:latin typeface="Microsoft YaHei"/>
                <a:ea typeface="Microsoft YaHei"/>
              </a:rPr>
              <a:t>眼皮(可眨)+舵机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TECH 2/4 · 运动系统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可动头部与四肢：12–16 自由度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45920"/>
            <a:ext cx="56692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128016" cy="566928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眼睛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45920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A93"/>
                </a:solidFill>
                <a:latin typeface="Microsoft YaHei"/>
                <a:ea typeface="Microsoft YaHei"/>
              </a:rPr>
              <a:t>6 DoF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F6A"/>
                </a:solidFill>
                <a:latin typeface="Microsoft YaHei"/>
                <a:ea typeface="Microsoft YaHei"/>
              </a:rPr>
              <a:t>转动 / 眨眼 / 眯眼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22576"/>
            <a:ext cx="56692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322576"/>
            <a:ext cx="128016" cy="566928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22576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头部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322576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2 DoF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22576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F6A"/>
                </a:solidFill>
                <a:latin typeface="Microsoft YaHei"/>
                <a:ea typeface="Microsoft YaHei"/>
              </a:rPr>
              <a:t>点头 / 摇头 / 侧头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999232"/>
            <a:ext cx="56692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2999232"/>
            <a:ext cx="128016" cy="566928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99232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嘴部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999232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82B"/>
                </a:solidFill>
                <a:latin typeface="Microsoft YaHei"/>
                <a:ea typeface="Microsoft YaHei"/>
              </a:rPr>
              <a:t>1 DoF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999232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F6A"/>
                </a:solidFill>
                <a:latin typeface="Microsoft YaHei"/>
                <a:ea typeface="Microsoft YaHei"/>
              </a:rPr>
              <a:t>开合 / 说话同步(可选)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675888"/>
            <a:ext cx="56692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675888"/>
            <a:ext cx="128016" cy="566928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675888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前肢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675888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Microsoft YaHei"/>
                <a:ea typeface="Microsoft YaHei"/>
              </a:rPr>
              <a:t>4 DoF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675888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F6A"/>
                </a:solidFill>
                <a:latin typeface="Microsoft YaHei"/>
                <a:ea typeface="Microsoft YaHei"/>
              </a:rPr>
              <a:t>挥手 / 招手 / 作揖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352544"/>
            <a:ext cx="56692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352544"/>
            <a:ext cx="128016" cy="566928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352544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腰·身体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352544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B59B6"/>
                </a:solidFill>
                <a:latin typeface="Microsoft YaHei"/>
                <a:ea typeface="Microsoft YaHei"/>
              </a:rPr>
              <a:t>1-2 DoF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352544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F6A"/>
                </a:solidFill>
                <a:latin typeface="Microsoft YaHei"/>
                <a:ea typeface="Microsoft YaHei"/>
              </a:rPr>
              <a:t>坐起 / 趴下 / 扭身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029200"/>
            <a:ext cx="56692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" y="5029200"/>
            <a:ext cx="128016" cy="566928"/>
          </a:xfrm>
          <a:prstGeom prst="roundRect">
            <a:avLst/>
          </a:prstGeom>
          <a:solidFill>
            <a:srgbClr val="2F6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029200"/>
            <a:ext cx="1463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耳朵·后肢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029200"/>
            <a:ext cx="822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B1C"/>
                </a:solidFill>
                <a:latin typeface="Microsoft YaHei"/>
                <a:ea typeface="Microsoft YaHei"/>
              </a:rPr>
              <a:t>2+ DoF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02920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F6A"/>
                </a:solidFill>
                <a:latin typeface="Microsoft YaHei"/>
                <a:ea typeface="Microsoft YaHei"/>
              </a:rPr>
              <a:t>耳朵抖动 / 后肢(选配)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1645920"/>
            <a:ext cx="4800600" cy="42519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18288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工程方案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423160"/>
            <a:ext cx="438912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9CD66B"/>
                </a:solidFill>
                <a:latin typeface="Microsoft YaHei"/>
              </a:rPr>
              <a:t>●  </a:t>
            </a:r>
            <a:r>
              <a:rPr sz="1250" b="1">
                <a:solidFill>
                  <a:srgbClr val="ECEFE8"/>
                </a:solidFill>
                <a:latin typeface="Microsoft YaHei"/>
                <a:ea typeface="Microsoft YaHei"/>
              </a:rPr>
              <a:t>总线舵机(Feetech/STS)</a:t>
            </a:r>
            <a:r>
              <a:rPr sz="1250">
                <a:solidFill>
                  <a:srgbClr val="ECEFE8"/>
                </a:solidFill>
                <a:latin typeface="Microsoft YaHei"/>
                <a:ea typeface="Microsoft YaHei"/>
              </a:rPr>
              <a:t>+控制板,简化布线,可读回位置做闭环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9CD66B"/>
                </a:solidFill>
                <a:latin typeface="Microsoft YaHei"/>
              </a:rPr>
              <a:t>●  </a:t>
            </a:r>
            <a:r>
              <a:rPr sz="1250" b="1">
                <a:solidFill>
                  <a:srgbClr val="ECEFE8"/>
                </a:solidFill>
                <a:latin typeface="Microsoft YaHei"/>
                <a:ea typeface="Microsoft YaHei"/>
              </a:rPr>
              <a:t>零机械裸露</a:t>
            </a:r>
            <a:r>
              <a:rPr sz="1250">
                <a:solidFill>
                  <a:srgbClr val="ECEFE8"/>
                </a:solidFill>
                <a:latin typeface="Microsoft YaHei"/>
                <a:ea typeface="Microsoft YaHei"/>
              </a:rPr>
              <a:t>：内骨骼+海绵+1:1拟真毛绒蒙皮,舵机/线缆/电池全藏于蒙皮内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9CD66B"/>
                </a:solidFill>
                <a:latin typeface="Microsoft YaHei"/>
              </a:rPr>
              <a:t>●  </a:t>
            </a:r>
            <a:r>
              <a:rPr sz="1250" b="1">
                <a:solidFill>
                  <a:srgbClr val="ECEFE8"/>
                </a:solidFill>
                <a:latin typeface="Microsoft YaHei"/>
                <a:ea typeface="Microsoft YaHei"/>
              </a:rPr>
              <a:t>大脑-小脑分层</a:t>
            </a:r>
            <a:r>
              <a:rPr sz="1250">
                <a:solidFill>
                  <a:srgbClr val="ECEFE8"/>
                </a:solidFill>
                <a:latin typeface="Microsoft YaHei"/>
                <a:ea typeface="Microsoft YaHei"/>
              </a:rPr>
              <a:t>：主控下发动作序列, MCU 实时关节控制+安全限位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9CD66B"/>
                </a:solidFill>
                <a:latin typeface="Microsoft YaHei"/>
              </a:rPr>
              <a:t>●  </a:t>
            </a:r>
            <a:r>
              <a:rPr sz="1250" b="1">
                <a:solidFill>
                  <a:srgbClr val="ECEFE8"/>
                </a:solidFill>
                <a:latin typeface="Microsoft YaHei"/>
                <a:ea typeface="Microsoft YaHei"/>
              </a:rPr>
              <a:t>技能动作库</a:t>
            </a:r>
            <a:r>
              <a:rPr sz="1250">
                <a:solidFill>
                  <a:srgbClr val="ECEFE8"/>
                </a:solidFill>
                <a:latin typeface="Microsoft YaHei"/>
                <a:ea typeface="Microsoft YaHei"/>
              </a:rPr>
              <a:t>：招手/作揖/点头/撒娇,由对话与情绪触发;行走为选配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TECH 3/4 · 对话大脑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端云协同的大模型对话系统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</a:rPr>
              <a:t>语音交互链路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1572768" cy="868680"/>
          </a:xfrm>
          <a:prstGeom prst="roundRect">
            <a:avLst/>
          </a:prstGeom>
          <a:solidFill>
            <a:srgbClr val="6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15727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拾音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双麦阵列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9202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1920240"/>
            <a:ext cx="1572768" cy="868680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920240"/>
            <a:ext cx="15727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唤醒/VAD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本地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19202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920240"/>
            <a:ext cx="1572768" cy="868680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920240"/>
            <a:ext cx="15727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ASR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语音转文字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19202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1572768" cy="868680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920240"/>
            <a:ext cx="15727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LLM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对话/人设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19202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6" y="1920240"/>
            <a:ext cx="1572768" cy="86868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8976" y="1920240"/>
            <a:ext cx="15727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TTS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花花音色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9202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A1A1A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920240"/>
            <a:ext cx="1572768" cy="868680"/>
          </a:xfrm>
          <a:prstGeom prst="roundRect">
            <a:avLst/>
          </a:prstGeom>
          <a:solidFill>
            <a:srgbClr val="6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1920240"/>
            <a:ext cx="157276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播放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扬声器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200400"/>
            <a:ext cx="5285232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713232" y="3200400"/>
            <a:ext cx="5285232" cy="548640"/>
          </a:xfrm>
          <a:prstGeom prst="round2Same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25526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本地小模型 SLM (端)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8620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唤醒、意图识别、敏感词安全围栏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隐私敏感数据本地处理(回应行业痛点)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断网离线兜底, 低延迟即时反应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200400"/>
            <a:ext cx="5285232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6190488" y="3200400"/>
            <a:ext cx="5285232" cy="548640"/>
          </a:xfrm>
          <a:prstGeom prst="round2Same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5526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云端大模型 (云)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8620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8A82B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DeepSeek / 豆包 / 通义 / GPT-4o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8A82B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复杂对话、知识问答、花花人设扮演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E8A82B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长期记忆向量库 + RAG, 越聊越懂你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TECH 4/4 · 肢体动作与养成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肢体动作(纯舵机) + 成长系统 (留存核心)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54480"/>
            <a:ext cx="5285232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B1C"/>
                </a:solidFill>
                <a:latin typeface="Microsoft YaHei"/>
                <a:ea typeface="Microsoft YaHei"/>
              </a:rPr>
              <a:t>肢体动作 (纯舵机·不用轮子)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84632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原地动作(一期必做)</a:t>
            </a:r>
            <a:r>
              <a:rPr sz="1250">
                <a:solidFill>
                  <a:srgbClr val="1A1A1A"/>
                </a:solidFill>
                <a:latin typeface="Microsoft YaHei"/>
                <a:ea typeface="Microsoft YaHei"/>
              </a:rPr>
              <a:t>：招手/作揖/点头/坐起/趴下/扭身,零机械裸露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行走(选配)</a:t>
            </a:r>
            <a:r>
              <a:rPr sz="1250">
                <a:solidFill>
                  <a:srgbClr val="1A1A1A"/>
                </a:solidFill>
                <a:latin typeface="Microsoft YaHei"/>
                <a:ea typeface="Microsoft YaHei"/>
              </a:rPr>
              <a:t>：仅腿足式,做不到就放弃,不影响核心体验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554480"/>
            <a:ext cx="5285232" cy="1874519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CD66B"/>
                </a:solidFill>
                <a:latin typeface="Microsoft YaHei"/>
                <a:ea typeface="Microsoft YaHei"/>
              </a:rPr>
              <a:t>互动—奖励—成长 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1170432" cy="868680"/>
          </a:xfrm>
          <a:prstGeom prst="roundRect">
            <a:avLst/>
          </a:prstGeom>
          <a:solidFill>
            <a:srgbClr val="2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11704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互动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说话/抚摸/打卡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19456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CD66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194560"/>
            <a:ext cx="1170432" cy="868680"/>
          </a:xfrm>
          <a:prstGeom prst="roundRect">
            <a:avLst/>
          </a:prstGeom>
          <a:solidFill>
            <a:srgbClr val="2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11704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奖励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经验/亲密度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219456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CD66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194560"/>
            <a:ext cx="1170432" cy="868680"/>
          </a:xfrm>
          <a:prstGeom prst="roundRect">
            <a:avLst/>
          </a:prstGeom>
          <a:solidFill>
            <a:srgbClr val="2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194560"/>
            <a:ext cx="11704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解锁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动作/对话/表情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4976" y="219456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CD66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194560"/>
            <a:ext cx="1170432" cy="868680"/>
          </a:xfrm>
          <a:prstGeom prst="roundRect">
            <a:avLst/>
          </a:prstGeom>
          <a:solidFill>
            <a:srgbClr val="2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194560"/>
            <a:ext cx="11704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性格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E7ECE0"/>
                </a:solidFill>
                <a:latin typeface="Microsoft YaHei"/>
                <a:ea typeface="Microsoft YaHei"/>
              </a:rPr>
              <a:t>专属花花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57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</a:rPr>
              <a:t>养成系统设计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105156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状态维度</a:t>
            </a:r>
            <a:r>
              <a:rPr sz="1400">
                <a:solidFill>
                  <a:srgbClr val="1A1A1A"/>
                </a:solidFill>
                <a:latin typeface="Microsoft YaHei"/>
                <a:ea typeface="Microsoft YaHei"/>
              </a:rPr>
              <a:t>：心情 / 活力 / 亲密度 / 技能等级 / 成长阶段(幼年→少年→成年)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性格塑造</a:t>
            </a:r>
            <a:r>
              <a:rPr sz="1400">
                <a:solidFill>
                  <a:srgbClr val="1A1A1A"/>
                </a:solidFill>
                <a:latin typeface="Microsoft YaHei"/>
                <a:ea typeface="Microsoft YaHei"/>
              </a:rPr>
              <a:t>：长期互动数据驱动性格参数(外向/黏人…), 对标 Moflin 情感画像与 Ropet 养成(已被市场验证)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「自己的思维」</a:t>
            </a:r>
            <a:r>
              <a:rPr sz="1400">
                <a:solidFill>
                  <a:srgbClr val="1A1A1A"/>
                </a:solidFill>
                <a:latin typeface="Microsoft YaHei"/>
                <a:ea typeface="Microsoft YaHei"/>
              </a:rPr>
              <a:t>：长期记忆 + 定期反思总结共同经历 → 主动发起对话(“今天怎么没理我”), 营造有想法的伙伴感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App 配套</a:t>
            </a:r>
            <a:r>
              <a:rPr sz="1400">
                <a:solidFill>
                  <a:srgbClr val="1A1A1A"/>
                </a:solidFill>
                <a:latin typeface="Microsoft YaHei"/>
                <a:ea typeface="Microsoft YaHei"/>
              </a:rPr>
              <a:t>：成长曲线 / 性格雷达 / 回忆相册 / 任务打卡 / 固件 OTA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CD66B"/>
                </a:solidFill>
                <a:latin typeface="Microsoft YaHei"/>
                <a:ea typeface="Microsoft YaHei"/>
              </a:rPr>
              <a:t>ARCHITECTURE ·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大脑—小脑—感知 分层架构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91640"/>
            <a:ext cx="9966960" cy="868680"/>
          </a:xfrm>
          <a:prstGeom prst="roundRect">
            <a:avLst/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2FF"/>
                </a:solidFill>
                <a:latin typeface="Microsoft YaHei"/>
                <a:ea typeface="Microsoft YaHei"/>
              </a:rPr>
              <a:t>☁  云端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84831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2F7"/>
                </a:solidFill>
                <a:latin typeface="Microsoft YaHei"/>
                <a:ea typeface="Microsoft YaHei"/>
              </a:rPr>
              <a:t>大模型(DeepSeek/豆包/GPT-4o) · ASR/TTS · 长期记忆向量库 · OTA · 成长后台 · 内容安全审核 · 数据合规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57860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9CD66B"/>
                </a:solidFill>
                <a:latin typeface="Microsoft YaHei"/>
                <a:ea typeface="Microsoft YaHei"/>
              </a:rPr>
              <a:t>↕ Wi-Fi 加密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9966960" cy="1143000"/>
          </a:xfrm>
          <a:prstGeom prst="roundRect">
            <a:avLst/>
          </a:prstGeom>
          <a:solidFill>
            <a:srgbClr val="2F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4495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E89A"/>
                </a:solidFill>
                <a:latin typeface="Microsoft YaHei"/>
                <a:ea typeface="Microsoft YaHei"/>
              </a:rPr>
              <a:t>🧠  主控大脑  RK3588 类 · 6 TOPS NPU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01568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DDEACF"/>
                </a:solidFill>
                <a:latin typeface="Microsoft YaHei"/>
                <a:ea typeface="Microsoft YaHei"/>
              </a:rPr>
              <a:t>本地小模型 SLM · 唤醒/VAD · 视觉(人脸/表情/手势) · 安全围栏 · 情感引擎 · 成长状态机 · 行为编排/技能库 · 端云路由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526280"/>
            <a:ext cx="4892040" cy="1417320"/>
          </a:xfrm>
          <a:prstGeom prst="roundRect">
            <a:avLst/>
          </a:prstGeom>
          <a:solidFill>
            <a:srgbClr val="40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599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2C98A"/>
                </a:solidFill>
                <a:latin typeface="Microsoft YaHei"/>
                <a:ea typeface="Microsoft YaHei"/>
              </a:rPr>
              <a:t>⚙  运动 MCU  STM32/ESP32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5604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FDCBC"/>
                </a:solidFill>
                <a:latin typeface="Microsoft YaHei"/>
                <a:ea typeface="Microsoft YaHei"/>
              </a:rPr>
              <a:t>眼球6舵机 · 头2 · 嘴1 · 前肢4 · 腰1-2 · 耳2 · (后肢选配) · 总线舵机闭环+安全限位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26280"/>
            <a:ext cx="4892040" cy="1417320"/>
          </a:xfrm>
          <a:prstGeom prst="roundRect">
            <a:avLst/>
          </a:prstGeom>
          <a:solidFill>
            <a:srgbClr val="3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599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8C2F0"/>
                </a:solidFill>
                <a:latin typeface="Microsoft YaHei"/>
                <a:ea typeface="Microsoft YaHei"/>
              </a:rPr>
              <a:t>👁  传感层 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95604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4D8F2"/>
                </a:solidFill>
                <a:latin typeface="Microsoft YaHei"/>
                <a:ea typeface="Microsoft YaHei"/>
              </a:rPr>
              <a:t>RGB-D摄像头 · 双麦阵列 · 触摸 · IMU(被抱/跌落) · 光线/温度(可选)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CD66B"/>
                </a:solidFill>
                <a:latin typeface="Microsoft YaHei"/>
                <a:ea typeface="Microsoft YaHei"/>
              </a:rPr>
              <a:t>全身无机械裸露：1:1拟真毛绒蒙皮(可抱) + 内骨骼(可动) + 锂电 + 无线充电底座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COST · 成本结构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整机 BOM 成本估算与定价 (量产参考)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主控 SoC (RK3588S类)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600200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¥220–400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12264"/>
            <a:ext cx="3566160" cy="43891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12264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运动 MCU + 舵机驱动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112264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¥25–50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624328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24328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仿生眼模组(6舵机+机构)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624328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¥60–120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136392"/>
            <a:ext cx="3566160" cy="43891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2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头/前肢/腰/耳舵机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3136392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¥110–210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648456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648456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后肢步态舵机(选配)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3648456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¥0–120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60520"/>
            <a:ext cx="3566160" cy="43891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60520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摄像头(RGB/RGB-D)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4160520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¥25–90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1" y="1600200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1600200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音频(双麦+功放+扬声器)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1" y="1600200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¥25–55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1" y="2112264"/>
            <a:ext cx="3566160" cy="43891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1" y="2112264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传感器(触摸/IMU/光线)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1" y="2112264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¥30–70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1" y="2624328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1" y="2624328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电池/电源/无线充底座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1" y="2624328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¥50–110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2271" y="3136392"/>
            <a:ext cx="3566160" cy="43891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1" y="3136392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结构(内骨骼+海绵+拟真毛绒)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1" y="3136392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¥100–200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62271" y="3648456"/>
            <a:ext cx="356616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1" y="3648456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PCB/线材/包装等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1" y="3648456"/>
            <a:ext cx="914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F6B1C"/>
                </a:solidFill>
                <a:latin typeface="Microsoft YaHei"/>
                <a:ea typeface="Microsoft YaHei"/>
              </a:rPr>
              <a:t>¥40–80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1600200"/>
            <a:ext cx="3246120" cy="306324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1828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CD66B"/>
                </a:solidFill>
                <a:latin typeface="Microsoft YaHei"/>
                <a:ea typeface="Microsoft YaHei"/>
              </a:rPr>
              <a:t>整机料本合计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3317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¥685–1505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CEC2"/>
                </a:solidFill>
                <a:latin typeface="Microsoft YaHei"/>
                <a:ea typeface="Microsoft YaHei"/>
              </a:rPr>
              <a:t>建议零售价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5204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8A82B"/>
                </a:solidFill>
                <a:latin typeface="Microsoft YaHei"/>
                <a:ea typeface="Microsoft YaHei"/>
              </a:rPr>
              <a:t>¥1499–2499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206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CEC2"/>
                </a:solidFill>
                <a:latin typeface="Microsoft YaHei"/>
                <a:ea typeface="Microsoft YaHei"/>
              </a:rPr>
              <a:t>目标毛利率 50%+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937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降本路径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4C9A2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眼模组舵机国产化 · 砍掉后肢/行走(外形不受影响) · 主控按需选4GB版 · 规模化集采议价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6A"/>
                </a:solidFill>
                <a:latin typeface="Microsoft YaHei"/>
                <a:ea typeface="Microsoft YaHei"/>
              </a:rPr>
              <a:t>注：千台级量产粗估区间, 最终以选型采购为准。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RISK · 安全与合规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前置安全合规：把行业痛点变成加分项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10762488" cy="9875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146304" cy="987552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C9A2A"/>
                </a:solidFill>
                <a:latin typeface="Microsoft YaHei"/>
                <a:ea typeface="Microsoft YaHei"/>
              </a:rPr>
              <a:t>隐私与数据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28216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痛点：部分AI玩具被曝持续录音、第三方转写、采集儿童数据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28216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对策：本地SLM优先 · 物理静音键 · 录音指示灯 · 数据可一键删除/重置 · 遵循COPPA/儿童信息保护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0762488" cy="9875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715768"/>
            <a:ext cx="146304" cy="987552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25496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58210"/>
                </a:solidFill>
                <a:latin typeface="Microsoft YaHei"/>
                <a:ea typeface="Microsoft YaHei"/>
              </a:rPr>
              <a:t>内容安全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43784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痛点：有报告显示部分AI玩具会生成不当内容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43784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对策：本地敏感词+云端审核+年龄分级人设 · 儿童模式白名单 · 家长后台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31336"/>
            <a:ext cx="10762488" cy="9875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831336"/>
            <a:ext cx="146304" cy="987552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41064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7A93"/>
                </a:solidFill>
                <a:latin typeface="Microsoft YaHei"/>
                <a:ea typeface="Microsoft YaHei"/>
              </a:rPr>
              <a:t>物理安全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痛点：小零件/夹手/电池风险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59352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对策：通过 3C/CE/EN71 玩具认证 · 舵机限位 · 过流保护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946904"/>
            <a:ext cx="10762488" cy="9875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946904"/>
            <a:ext cx="146304" cy="987552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056632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8DEF"/>
                </a:solidFill>
                <a:latin typeface="Microsoft YaHei"/>
                <a:ea typeface="Microsoft YaHei"/>
              </a:rPr>
              <a:t>IP 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07492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痛点：IP授权范围需清晰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07492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对策：明确花花IP授权(形象/名称/声音/区域/期限)可商用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CD66B"/>
                </a:solidFill>
                <a:latin typeface="Microsoft YaHei"/>
                <a:ea typeface="Microsoft YaHei"/>
              </a:rPr>
              <a:t>ROADMAP · 研发路线图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15 个月：从概念验证到量产上市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31720"/>
            <a:ext cx="10332720" cy="54864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48840"/>
            <a:ext cx="420624" cy="420624"/>
          </a:xfrm>
          <a:prstGeom prst="ellipse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874519" cy="237744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874519" cy="91440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A93"/>
                </a:solidFill>
                <a:latin typeface="Microsoft YaHei"/>
                <a:ea typeface="Microsoft YaHei"/>
              </a:rPr>
              <a:t>0–2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93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概念验证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D3D8CD"/>
                </a:solidFill>
                <a:latin typeface="Microsoft YaHei"/>
                <a:ea typeface="Microsoft YaHei"/>
              </a:rPr>
              <a:t>仿生眼Demo+端云对话+花花外观手板</a:t>
            </a:r>
          </a:p>
        </p:txBody>
      </p:sp>
      <p:sp>
        <p:nvSpPr>
          <p:cNvPr id="12" name="Oval 11"/>
          <p:cNvSpPr/>
          <p:nvPr/>
        </p:nvSpPr>
        <p:spPr>
          <a:xfrm>
            <a:off x="3035808" y="2148840"/>
            <a:ext cx="420624" cy="420624"/>
          </a:xfrm>
          <a:prstGeom prst="ellipse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48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P1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2926080"/>
            <a:ext cx="1874519" cy="237744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2928" y="2926080"/>
            <a:ext cx="1874519" cy="91440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3108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82B"/>
                </a:solidFill>
                <a:latin typeface="Microsoft YaHei"/>
                <a:ea typeface="Microsoft YaHei"/>
              </a:rPr>
              <a:t>2–5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493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工程样机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4005072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D3D8CD"/>
                </a:solidFill>
                <a:latin typeface="Microsoft YaHei"/>
                <a:ea typeface="Microsoft YaHei"/>
              </a:rPr>
              <a:t>拟真整机(全毛绒/零裸露)+肢体动作库+成长App v0.1</a:t>
            </a:r>
          </a:p>
        </p:txBody>
      </p:sp>
      <p:sp>
        <p:nvSpPr>
          <p:cNvPr id="19" name="Oval 18"/>
          <p:cNvSpPr/>
          <p:nvPr/>
        </p:nvSpPr>
        <p:spPr>
          <a:xfrm>
            <a:off x="5157216" y="2148840"/>
            <a:ext cx="420624" cy="420624"/>
          </a:xfrm>
          <a:prstGeom prst="ellipse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2148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P2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336" y="2926080"/>
            <a:ext cx="1874519" cy="237744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74336" y="2926080"/>
            <a:ext cx="1874519" cy="91440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3108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5–9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3493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设计验证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4005072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D3D8CD"/>
                </a:solidFill>
                <a:latin typeface="Microsoft YaHei"/>
                <a:ea typeface="Microsoft YaHei"/>
              </a:rPr>
              <a:t>静音眼模组+续航达标+安全合规预测试</a:t>
            </a:r>
          </a:p>
        </p:txBody>
      </p:sp>
      <p:sp>
        <p:nvSpPr>
          <p:cNvPr id="26" name="Oval 25"/>
          <p:cNvSpPr/>
          <p:nvPr/>
        </p:nvSpPr>
        <p:spPr>
          <a:xfrm>
            <a:off x="7278624" y="2148840"/>
            <a:ext cx="420624" cy="420624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624" y="2148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P3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5744" y="2926080"/>
            <a:ext cx="1874519" cy="237744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95744" y="2926080"/>
            <a:ext cx="1874519" cy="9144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3108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EF"/>
                </a:solidFill>
                <a:latin typeface="Microsoft YaHei"/>
                <a:ea typeface="Microsoft YaHei"/>
              </a:rPr>
              <a:t>9–12 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3493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量产验证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005072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D3D8CD"/>
                </a:solidFill>
                <a:latin typeface="Microsoft YaHei"/>
                <a:ea typeface="Microsoft YaHei"/>
              </a:rPr>
              <a:t>产线导入+良率爬坡+认证(3C/CE/EN71)</a:t>
            </a:r>
          </a:p>
        </p:txBody>
      </p:sp>
      <p:sp>
        <p:nvSpPr>
          <p:cNvPr id="33" name="Oval 32"/>
          <p:cNvSpPr/>
          <p:nvPr/>
        </p:nvSpPr>
        <p:spPr>
          <a:xfrm>
            <a:off x="9400032" y="2148840"/>
            <a:ext cx="420624" cy="420624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21488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P4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7152" y="2926080"/>
            <a:ext cx="1874519" cy="2377440"/>
          </a:xfrm>
          <a:prstGeom prst="roundRect">
            <a:avLst/>
          </a:prstGeom>
          <a:solidFill>
            <a:srgbClr val="24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17152" y="2926080"/>
            <a:ext cx="1874519" cy="9144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3108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B59B6"/>
                </a:solidFill>
                <a:latin typeface="Microsoft YaHei"/>
                <a:ea typeface="Microsoft YaHei"/>
              </a:rPr>
              <a:t>12–15 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3493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量产上市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4005072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D3D8CD"/>
                </a:solidFill>
                <a:latin typeface="Microsoft YaHei"/>
                <a:ea typeface="Microsoft YaHei"/>
              </a:rPr>
              <a:t>首批量产+众筹预售+IP联合营销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9A2A"/>
                </a:solidFill>
                <a:latin typeface="Microsoft YaHei"/>
                <a:ea typeface="Microsoft YaHei"/>
              </a:rPr>
              <a:t>BUSINESS · 商业化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</a:rPr>
              <a:t>收入模型、GTM 与融资规划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F6A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6A"/>
                </a:solidFill>
                <a:latin typeface="Microsoft YaHei"/>
                <a:ea typeface="Microsoft YaHei"/>
              </a:rPr>
              <a:t>熊猫花花 · HuaHua AI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</a:rPr>
              <a:t>收入模型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521208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920240"/>
            <a:ext cx="128016" cy="713232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硬件销售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920240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F6A"/>
                </a:solidFill>
                <a:latin typeface="Microsoft YaHei"/>
                <a:ea typeface="Microsoft YaHei"/>
              </a:rPr>
              <a:t>首发+多IP形象/限定款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61488"/>
            <a:ext cx="521208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761488"/>
            <a:ext cx="128016" cy="713232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会员订阅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61488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F6A"/>
                </a:solidFill>
                <a:latin typeface="Microsoft YaHei"/>
                <a:ea typeface="Microsoft YaHei"/>
              </a:rPr>
              <a:t>高级对话/专属音色/云记忆扩容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02736"/>
            <a:ext cx="521208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602736"/>
            <a:ext cx="128016" cy="713232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02736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配件养成内购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602736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F6A"/>
                </a:solidFill>
                <a:latin typeface="Microsoft YaHei"/>
                <a:ea typeface="Microsoft YaHei"/>
              </a:rPr>
              <a:t>服饰/家具/技能包/节日皮肤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443984"/>
            <a:ext cx="521208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4443984"/>
            <a:ext cx="128016" cy="713232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43984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IP联名内容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43984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6F6A"/>
                </a:solidFill>
                <a:latin typeface="Microsoft YaHei"/>
                <a:ea typeface="Microsoft YaHei"/>
              </a:rPr>
              <a:t>花花直播/周边/品牌联名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</a:rPr>
              <a:t>融资用途建议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920240"/>
            <a:ext cx="5166360" cy="71323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920240"/>
            <a:ext cx="2324953" cy="713232"/>
          </a:xfrm>
          <a:prstGeom prst="round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920240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研发与打样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1920240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</a:rPr>
              <a:t>45%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761488"/>
            <a:ext cx="5166360" cy="71323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2761488"/>
            <a:ext cx="1291681" cy="713232"/>
          </a:xfrm>
          <a:prstGeom prst="roundRect">
            <a:avLst/>
          </a:prstGeom>
          <a:solidFill>
            <a:srgbClr val="E8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761488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IP授权与营销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761488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602736"/>
            <a:ext cx="5166360" cy="71323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3602736"/>
            <a:ext cx="1033363" cy="713232"/>
          </a:xfrm>
          <a:prstGeom prst="roundRect">
            <a:avLst/>
          </a:prstGeom>
          <a:solidFill>
            <a:srgbClr val="FF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602736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供应链与认证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602736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</a:rPr>
              <a:t>20%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443984"/>
            <a:ext cx="5166360" cy="713232"/>
          </a:xfrm>
          <a:prstGeom prst="roundRect">
            <a:avLst/>
          </a:prstGeom>
          <a:solidFill>
            <a:srgbClr val="E9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4443984"/>
            <a:ext cx="516727" cy="713232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443984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</a:rPr>
              <a:t>团队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4443984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</a:rPr>
              <a:t>10%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349240"/>
            <a:ext cx="10762488" cy="1051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681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GTM：众筹预售造势 → 萌宠/疗愈赛道 KOL 种草 → 花花 IP 流量导入 → 线下快闪/收藏展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CEC2"/>
                </a:solidFill>
                <a:latin typeface="Microsoft YaHei"/>
                <a:ea typeface="Microsoft YaHei"/>
              </a:rPr>
              <a:t>估值锚点：竞品 Ropet 售出约 2 万台后完成超 1000 万美元 A 轮, 验证赛道资本热度。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78324" y="1257300"/>
            <a:ext cx="2423160" cy="2423160"/>
          </a:xfrm>
          <a:prstGeom prst="ellipse">
            <a:avLst/>
          </a:prstGeom>
          <a:solidFill>
            <a:srgbClr val="33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uahua_circle_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32588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让每个人都拥有一只</a:t>
            </a:r>
          </a:p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会眨眼、会陪伴、会长大的熊猫花花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CD66B"/>
                </a:solidFill>
                <a:latin typeface="Microsoft YaHei"/>
                <a:ea typeface="Microsoft YaHei"/>
              </a:rPr>
              <a:t>1:1 拟真外形 × 真实生命感 × 智能大脑 × 现象级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9CEC2"/>
                </a:solidFill>
                <a:latin typeface="Microsoft YaHei"/>
                <a:ea typeface="Microsoft YaHei"/>
              </a:rPr>
              <a:t>诚邀您与我们一起，定义下一代情感陪伴机器人。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