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C9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4C9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68159" y="1404519"/>
            <a:ext cx="3683202" cy="3683202"/>
          </a:xfrm>
          <a:prstGeom prst="ellipse">
            <a:avLst/>
          </a:prstGeom>
          <a:solidFill>
            <a:srgbClr val="9CD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uahua_circle_7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508760"/>
            <a:ext cx="3474720" cy="3474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1234440"/>
            <a:ext cx="7772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9CD66B"/>
                </a:solidFill>
                <a:latin typeface="Microsoft YaHei"/>
                <a:ea typeface="Microsoft YaHei"/>
              </a:rPr>
              <a:t>AI 互动陪伴机器人 · 投资人汇报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828800"/>
            <a:ext cx="80467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 i="0">
                <a:solidFill>
                  <a:srgbClr val="FFFFFF"/>
                </a:solidFill>
                <a:latin typeface="Microsoft YaHei"/>
                <a:ea typeface="Microsoft YaHei"/>
              </a:rPr>
              <a:t>熊猫花花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63240"/>
            <a:ext cx="8046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EDEFE8"/>
                </a:solidFill>
                <a:latin typeface="Microsoft YaHei"/>
                <a:ea typeface="Microsoft YaHei"/>
              </a:rPr>
              <a:t>全球第一只 1:1 拟真、会眨眼、会动手脚、会对话、会成长的桌面陪伴熊猫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20624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FF7A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1:1拟真外形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8920" y="420624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4C9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仿生眼神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0" y="420624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E8A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可动手脚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20840" y="420624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对话·养成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8978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B9BEB2"/>
                </a:solidFill>
                <a:latin typeface="Microsoft YaHei"/>
                <a:ea typeface="Microsoft YaHei"/>
              </a:rPr>
              <a:t>基于现象级熊猫 IP「花花」 ｜ 2026 ｜ 商业计划摘要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28016" cy="566928"/>
          </a:xfrm>
          <a:prstGeom prst="rect">
            <a:avLst/>
          </a:prstGeom>
          <a:solidFill>
            <a:srgbClr val="4C9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4C9A2A"/>
                </a:solidFill>
                <a:latin typeface="Microsoft YaHei"/>
                <a:ea typeface="Microsoft YaHei"/>
              </a:rPr>
              <a:t>WHY NOW · 行业痛点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71323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1A1A"/>
                </a:solidFill>
                <a:latin typeface="Microsoft YaHei"/>
                <a:ea typeface="Microsoft YaHei"/>
              </a:rPr>
              <a:t>陪伴机器人的「不可能三角」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355080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6B6F6A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F6A"/>
                </a:solidFill>
                <a:latin typeface="Microsoft YaHei"/>
                <a:ea typeface="Microsoft YaHei"/>
              </a:rPr>
              <a:t>熊猫花花 · HuaHua AI Companion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417320"/>
            <a:ext cx="10698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6B6F6A"/>
                </a:solidFill>
                <a:latin typeface="Microsoft YaHei"/>
                <a:ea typeface="Microsoft YaHei"/>
              </a:rPr>
              <a:t>市场上的产品几乎只能做到三点中的一到两点，没有人同时做全。</a:t>
            </a:r>
          </a:p>
        </p:txBody>
      </p:sp>
      <p:sp>
        <p:nvSpPr>
          <p:cNvPr id="8" name="Oval 7"/>
          <p:cNvSpPr/>
          <p:nvPr/>
        </p:nvSpPr>
        <p:spPr>
          <a:xfrm>
            <a:off x="1691640" y="1691640"/>
            <a:ext cx="2468880" cy="2468880"/>
          </a:xfrm>
          <a:prstGeom prst="ellipse">
            <a:avLst/>
          </a:prstGeom>
          <a:solidFill>
            <a:srgbClr val="FF7A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91640" y="2423160"/>
            <a:ext cx="2468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Microsoft YaHei"/>
                <a:ea typeface="Microsoft YaHei"/>
              </a:rPr>
              <a:t>生动的物理动作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971800"/>
            <a:ext cx="2468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FFFFFF"/>
                </a:solidFill>
                <a:latin typeface="Microsoft YaHei"/>
                <a:ea typeface="Microsoft YaHei"/>
              </a:rPr>
              <a:t>会动的机械结构</a:t>
            </a:r>
          </a:p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FFFFFF"/>
                </a:solidFill>
                <a:latin typeface="Microsoft YaHei"/>
                <a:ea typeface="Microsoft YaHei"/>
              </a:rPr>
              <a:t>(眼/头/四肢/行走)</a:t>
            </a:r>
          </a:p>
        </p:txBody>
      </p:sp>
      <p:sp>
        <p:nvSpPr>
          <p:cNvPr id="11" name="Oval 10"/>
          <p:cNvSpPr/>
          <p:nvPr/>
        </p:nvSpPr>
        <p:spPr>
          <a:xfrm>
            <a:off x="8001000" y="1691640"/>
            <a:ext cx="2468880" cy="2468880"/>
          </a:xfrm>
          <a:prstGeom prst="ellipse">
            <a:avLst/>
          </a:prstGeom>
          <a:solidFill>
            <a:srgbClr val="E8A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2423160"/>
            <a:ext cx="2468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Microsoft YaHei"/>
                <a:ea typeface="Microsoft YaHei"/>
              </a:rPr>
              <a:t>自然的智能对话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971800"/>
            <a:ext cx="2468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FFFFFF"/>
                </a:solidFill>
                <a:latin typeface="Microsoft YaHei"/>
                <a:ea typeface="Microsoft YaHei"/>
              </a:rPr>
              <a:t>大模型理解与表达</a:t>
            </a:r>
          </a:p>
        </p:txBody>
      </p:sp>
      <p:sp>
        <p:nvSpPr>
          <p:cNvPr id="14" name="Oval 13"/>
          <p:cNvSpPr/>
          <p:nvPr/>
        </p:nvSpPr>
        <p:spPr>
          <a:xfrm>
            <a:off x="4846320" y="3886200"/>
            <a:ext cx="2468880" cy="2468880"/>
          </a:xfrm>
          <a:prstGeom prst="ellipse">
            <a:avLst/>
          </a:prstGeom>
          <a:solidFill>
            <a:srgbClr val="4C9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0" y="4617720"/>
            <a:ext cx="24688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Microsoft YaHei"/>
                <a:ea typeface="Microsoft YaHei"/>
              </a:rPr>
              <a:t>有温度的情感陪伴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5166360"/>
            <a:ext cx="2468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FFFFFF"/>
                </a:solidFill>
                <a:latin typeface="Microsoft YaHei"/>
                <a:ea typeface="Microsoft YaHei"/>
              </a:rPr>
              <a:t>IP / 养成 / 性格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365760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A1A1A"/>
                </a:solidFill>
                <a:latin typeface="Microsoft YaHei"/>
                <a:ea typeface="Microsoft YaHei"/>
              </a:rPr>
              <a:t>三者兼得 =</a:t>
            </a:r>
          </a:p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A1A1A"/>
                </a:solidFill>
                <a:latin typeface="Microsoft YaHei"/>
                <a:ea typeface="Microsoft YaHei"/>
              </a:rPr>
              <a:t>稀缺空白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5669280"/>
            <a:ext cx="10698480" cy="777240"/>
          </a:xfrm>
          <a:prstGeom prst="roundRect">
            <a:avLst/>
          </a:prstGeom>
          <a:solidFill>
            <a:srgbClr val="E9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779008"/>
            <a:ext cx="103327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A1A1A"/>
                </a:solidFill>
                <a:latin typeface="Microsoft YaHei"/>
                <a:ea typeface="Microsoft YaHei"/>
              </a:rPr>
              <a:t>Loona 偏机器狗(无IP/屏幕画眼) · Moflin/Ropet 软萌但几乎不能动 · BubblePal 只是会说话的插件 —— 花花要一次补齐三角。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28016" cy="566928"/>
          </a:xfrm>
          <a:prstGeom prst="rect">
            <a:avLst/>
          </a:prstGeom>
          <a:solidFill>
            <a:srgbClr val="4C9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4C9A2A"/>
                </a:solidFill>
                <a:latin typeface="Microsoft YaHei"/>
                <a:ea typeface="Microsoft YaHei"/>
              </a:rPr>
              <a:t>MARKET · 市场机会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71323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1A1A"/>
                </a:solidFill>
                <a:latin typeface="Microsoft YaHei"/>
                <a:ea typeface="Microsoft YaHei"/>
              </a:rPr>
              <a:t>毛绒玩具的 AI 升级窗口已经打开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355080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6B6F6A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F6A"/>
                </a:solidFill>
                <a:latin typeface="Microsoft YaHei"/>
                <a:ea typeface="Microsoft YaHei"/>
              </a:rPr>
              <a:t>熊猫花花 · HuaHua AI Companion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600200"/>
            <a:ext cx="3456432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1600200"/>
            <a:ext cx="146304" cy="1828800"/>
          </a:xfrm>
          <a:prstGeom prst="roundRect">
            <a:avLst/>
          </a:prstGeom>
          <a:solidFill>
            <a:srgbClr val="4C9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33272" y="1828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4C9A2A"/>
                </a:solidFill>
                <a:latin typeface="Microsoft YaHei"/>
                <a:ea typeface="Microsoft YaHei"/>
              </a:rPr>
              <a:t>$138.9 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2697480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6F6A"/>
                </a:solidFill>
                <a:latin typeface="Microsoft YaHei"/>
                <a:ea typeface="Microsoft YaHei"/>
              </a:rPr>
              <a:t>2025 全球毛绒玩具市场规模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2" y="1600200"/>
            <a:ext cx="3456432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70832" y="1600200"/>
            <a:ext cx="146304" cy="1828800"/>
          </a:xfrm>
          <a:prstGeom prst="roundRect">
            <a:avLst/>
          </a:prstGeom>
          <a:solidFill>
            <a:srgbClr val="E8A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90872" y="1828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E8A82B"/>
                </a:solidFill>
                <a:latin typeface="Microsoft YaHei"/>
                <a:ea typeface="Microsoft YaHei"/>
              </a:rPr>
              <a:t>$285 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0872" y="2697480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6F6A"/>
                </a:solidFill>
                <a:latin typeface="Microsoft YaHei"/>
                <a:ea typeface="Microsoft YaHei"/>
              </a:rPr>
              <a:t>2034 预计市场规模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2" y="1600200"/>
            <a:ext cx="3456432" cy="1828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8432" y="1600200"/>
            <a:ext cx="146304" cy="1828800"/>
          </a:xfrm>
          <a:prstGeom prst="roundRect">
            <a:avLst/>
          </a:prstGeom>
          <a:solidFill>
            <a:srgbClr val="FF7A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8472" y="1828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FF7A93"/>
                </a:solidFill>
                <a:latin typeface="Microsoft YaHei"/>
                <a:ea typeface="Microsoft YaHei"/>
              </a:rPr>
              <a:t>14–16%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8472" y="2697480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6F6A"/>
                </a:solidFill>
                <a:latin typeface="Microsoft YaHei"/>
                <a:ea typeface="Microsoft YaHei"/>
              </a:rPr>
              <a:t>AI 玩具子赛道年复合增速 (CAGR)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379476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A1A1A"/>
                </a:solidFill>
                <a:latin typeface="Microsoft YaHei"/>
                <a:ea typeface="Microsoft YaHei"/>
              </a:rPr>
              <a:t>驱动趋势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251960"/>
            <a:ext cx="10515600" cy="2103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500" b="1">
                <a:solidFill>
                  <a:srgbClr val="4C9A2A"/>
                </a:solidFill>
                <a:latin typeface="Microsoft YaHei"/>
              </a:rPr>
              <a:t>●  </a:t>
            </a:r>
            <a:r>
              <a:rPr sz="1500" b="1">
                <a:solidFill>
                  <a:srgbClr val="1A1A1A"/>
                </a:solidFill>
                <a:latin typeface="Microsoft YaHei"/>
                <a:ea typeface="Microsoft YaHei"/>
              </a:rPr>
              <a:t>从功能玩具到情感伙伴</a:t>
            </a:r>
            <a:r>
              <a:rPr sz="1500">
                <a:solidFill>
                  <a:srgbClr val="1A1A1A"/>
                </a:solidFill>
                <a:latin typeface="Microsoft YaHei"/>
                <a:ea typeface="Microsoft YaHei"/>
              </a:rPr>
              <a:t>：用户付费意愿从「好玩」转向「陪伴 / 疗愈 / 养成」，复购与黏性更高</a:t>
            </a:r>
          </a:p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500" b="1">
                <a:solidFill>
                  <a:srgbClr val="4C9A2A"/>
                </a:solidFill>
                <a:latin typeface="Microsoft YaHei"/>
              </a:rPr>
              <a:t>●  </a:t>
            </a:r>
            <a:r>
              <a:rPr sz="1500" b="1">
                <a:solidFill>
                  <a:srgbClr val="1A1A1A"/>
                </a:solidFill>
                <a:latin typeface="Microsoft YaHei"/>
                <a:ea typeface="Microsoft YaHei"/>
              </a:rPr>
              <a:t>大模型平价化</a:t>
            </a:r>
            <a:r>
              <a:rPr sz="1500">
                <a:solidFill>
                  <a:srgbClr val="1A1A1A"/>
                </a:solidFill>
                <a:latin typeface="Microsoft YaHei"/>
                <a:ea typeface="Microsoft YaHei"/>
              </a:rPr>
              <a:t>：DeepSeek / 豆包 / GPT-4o 让自然对话成本骤降，AI 玩具迎来爆发窗口</a:t>
            </a:r>
          </a:p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500" b="1">
                <a:solidFill>
                  <a:srgbClr val="4C9A2A"/>
                </a:solidFill>
                <a:latin typeface="Microsoft YaHei"/>
              </a:rPr>
              <a:t>●  </a:t>
            </a:r>
            <a:r>
              <a:rPr sz="1500" b="1">
                <a:solidFill>
                  <a:srgbClr val="1A1A1A"/>
                </a:solidFill>
                <a:latin typeface="Microsoft YaHei"/>
                <a:ea typeface="Microsoft YaHei"/>
              </a:rPr>
              <a:t>端侧 AI 成熟</a:t>
            </a:r>
            <a:r>
              <a:rPr sz="1500">
                <a:solidFill>
                  <a:srgbClr val="1A1A1A"/>
                </a:solidFill>
                <a:latin typeface="Microsoft YaHei"/>
                <a:ea typeface="Microsoft YaHei"/>
              </a:rPr>
              <a:t>：RK3588(6 TOPS NPU) 等让本地推理、隐私保护、低延迟成为可能</a:t>
            </a:r>
          </a:p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500" b="1">
                <a:solidFill>
                  <a:srgbClr val="4C9A2A"/>
                </a:solidFill>
                <a:latin typeface="Microsoft YaHei"/>
              </a:rPr>
              <a:t>●  </a:t>
            </a:r>
            <a:r>
              <a:rPr sz="1500" b="1">
                <a:solidFill>
                  <a:srgbClr val="1A1A1A"/>
                </a:solidFill>
                <a:latin typeface="Microsoft YaHei"/>
                <a:ea typeface="Microsoft YaHei"/>
              </a:rPr>
              <a:t>IP 驱动溢价</a:t>
            </a:r>
            <a:r>
              <a:rPr sz="1500">
                <a:solidFill>
                  <a:srgbClr val="1A1A1A"/>
                </a:solidFill>
                <a:latin typeface="Microsoft YaHei"/>
                <a:ea typeface="Microsoft YaHei"/>
              </a:rPr>
              <a:t>：泡泡玛特验证「IP+情感」强变现力，花花是稀缺的现象级真实熊猫 IP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64008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F6A"/>
                </a:solidFill>
                <a:latin typeface="Microsoft YaHei"/>
                <a:ea typeface="Microsoft YaHei"/>
              </a:rPr>
              <a:t>数据来源：第三方行业报告(accio / keyirobot 等)，已按合规改写，正式 BP 需交叉核验权威机构口径。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28016" cy="566928"/>
          </a:xfrm>
          <a:prstGeom prst="rect">
            <a:avLst/>
          </a:prstGeom>
          <a:solidFill>
            <a:srgbClr val="4C9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4C9A2A"/>
                </a:solidFill>
                <a:latin typeface="Microsoft YaHei"/>
                <a:ea typeface="Microsoft YaHei"/>
              </a:rPr>
              <a:t>COMPETITION · 实物对比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71323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1A1A"/>
                </a:solidFill>
                <a:latin typeface="Microsoft YaHei"/>
                <a:ea typeface="Microsoft YaHei"/>
              </a:rPr>
              <a:t>竞品各自只解决了局部体验, 形态短板非常直观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355080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6B6F6A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F6A"/>
                </a:solidFill>
                <a:latin typeface="Microsoft YaHei"/>
                <a:ea typeface="Microsoft YaHei"/>
              </a:rPr>
              <a:t>熊猫花花 · HuaHua AI Companion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463040"/>
            <a:ext cx="3520440" cy="1874519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ona_cover_1000x8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572768"/>
            <a:ext cx="1325880" cy="1143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67128" y="1609344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4C9A2A"/>
                </a:solidFill>
                <a:latin typeface="Microsoft YaHei"/>
                <a:ea typeface="Microsoft YaHei"/>
              </a:rPr>
              <a:t>Loona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67128" y="1965960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B6F6A"/>
                </a:solidFill>
                <a:latin typeface="Microsoft YaHei"/>
                <a:ea typeface="Microsoft YaHei"/>
              </a:rPr>
              <a:t>机器狗 / 硬壳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67128" y="2359152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A1A1A"/>
                </a:solidFill>
                <a:latin typeface="Microsoft YaHei"/>
                <a:ea typeface="Microsoft YaHei"/>
              </a:rPr>
              <a:t>强动作</a:t>
            </a:r>
          </a:p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A1A1A"/>
                </a:solidFill>
                <a:latin typeface="Microsoft YaHei"/>
                <a:ea typeface="Microsoft YaHei"/>
              </a:rPr>
              <a:t>弱毛绒陪伴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3520440" cy="118872"/>
          </a:xfrm>
          <a:prstGeom prst="roundRect">
            <a:avLst/>
          </a:prstGeom>
          <a:solidFill>
            <a:srgbClr val="4C9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43400" y="1463040"/>
            <a:ext cx="3520440" cy="1874519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vector_cover_1000x8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3128" y="1572768"/>
            <a:ext cx="1325880" cy="1143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943600" y="1609344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5B8DEF"/>
                </a:solidFill>
                <a:latin typeface="Microsoft YaHei"/>
                <a:ea typeface="Microsoft YaHei"/>
              </a:rPr>
              <a:t>Vector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1965960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B6F6A"/>
                </a:solidFill>
                <a:latin typeface="Microsoft YaHei"/>
                <a:ea typeface="Microsoft YaHei"/>
              </a:rPr>
              <a:t>履带机器人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2359152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A1A1A"/>
                </a:solidFill>
                <a:latin typeface="Microsoft YaHei"/>
                <a:ea typeface="Microsoft YaHei"/>
              </a:rPr>
              <a:t>强桌面感</a:t>
            </a:r>
          </a:p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A1A1A"/>
                </a:solidFill>
                <a:latin typeface="Microsoft YaHei"/>
                <a:ea typeface="Microsoft YaHei"/>
              </a:rPr>
              <a:t>弱情感载体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218688"/>
            <a:ext cx="3520440" cy="118872"/>
          </a:xfrm>
          <a:prstGeom prst="round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119872" y="1463040"/>
            <a:ext cx="3520440" cy="1874519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eilik_cover_1000x86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1572768"/>
            <a:ext cx="1325880" cy="1143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720072" y="1609344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E8A82B"/>
                </a:solidFill>
                <a:latin typeface="Microsoft YaHei"/>
                <a:ea typeface="Microsoft YaHei"/>
              </a:rPr>
              <a:t>Eilik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20072" y="1965960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B6F6A"/>
                </a:solidFill>
                <a:latin typeface="Microsoft YaHei"/>
                <a:ea typeface="Microsoft YaHei"/>
              </a:rPr>
              <a:t>表情桌面机器人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20072" y="2359152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A1A1A"/>
                </a:solidFill>
                <a:latin typeface="Microsoft YaHei"/>
                <a:ea typeface="Microsoft YaHei"/>
              </a:rPr>
              <a:t>强表演</a:t>
            </a:r>
          </a:p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A1A1A"/>
                </a:solidFill>
                <a:latin typeface="Microsoft YaHei"/>
                <a:ea typeface="Microsoft YaHei"/>
              </a:rPr>
              <a:t>弱真实生命感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19872" y="3218688"/>
            <a:ext cx="3520440" cy="118872"/>
          </a:xfrm>
          <a:prstGeom prst="roundRect">
            <a:avLst/>
          </a:prstGeom>
          <a:solidFill>
            <a:srgbClr val="E8A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66928" y="3547871"/>
            <a:ext cx="3520440" cy="1874519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ropet_1_cover_1000x86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" y="3657599"/>
            <a:ext cx="1325880" cy="11430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67128" y="3694175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7A93"/>
                </a:solidFill>
                <a:latin typeface="Microsoft YaHei"/>
                <a:ea typeface="Microsoft YaHei"/>
              </a:rPr>
              <a:t>Ropet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67128" y="4050791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B6F6A"/>
                </a:solidFill>
                <a:latin typeface="Microsoft YaHei"/>
                <a:ea typeface="Microsoft YaHei"/>
              </a:rPr>
              <a:t>毛绒 AI 宠物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67128" y="4443983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A1A1A"/>
                </a:solidFill>
                <a:latin typeface="Microsoft YaHei"/>
                <a:ea typeface="Microsoft YaHei"/>
              </a:rPr>
              <a:t>强柔软</a:t>
            </a:r>
          </a:p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A1A1A"/>
                </a:solidFill>
                <a:latin typeface="Microsoft YaHei"/>
                <a:ea typeface="Microsoft YaHei"/>
              </a:rPr>
              <a:t>弱肢体动作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6928" y="5303519"/>
            <a:ext cx="3520440" cy="118872"/>
          </a:xfrm>
          <a:prstGeom prst="roundRect">
            <a:avLst/>
          </a:prstGeom>
          <a:solidFill>
            <a:srgbClr val="FF7A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343400" y="3547871"/>
            <a:ext cx="3520440" cy="1874519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moflin_cover_1000x86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3128" y="3657599"/>
            <a:ext cx="1325880" cy="11430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943600" y="3694175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9B59B6"/>
                </a:solidFill>
                <a:latin typeface="Microsoft YaHei"/>
                <a:ea typeface="Microsoft YaHei"/>
              </a:rPr>
              <a:t>Moflin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4050791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B6F6A"/>
                </a:solidFill>
                <a:latin typeface="Microsoft YaHei"/>
                <a:ea typeface="Microsoft YaHei"/>
              </a:rPr>
              <a:t>毛绒情感宠物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0" y="4443983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A1A1A"/>
                </a:solidFill>
                <a:latin typeface="Microsoft YaHei"/>
                <a:ea typeface="Microsoft YaHei"/>
              </a:rPr>
              <a:t>强养成</a:t>
            </a:r>
          </a:p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A1A1A"/>
                </a:solidFill>
                <a:latin typeface="Microsoft YaHei"/>
                <a:ea typeface="Microsoft YaHei"/>
              </a:rPr>
              <a:t>弱对话/动作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43400" y="5303519"/>
            <a:ext cx="3520440" cy="118872"/>
          </a:xfrm>
          <a:prstGeom prst="roundRect">
            <a:avLst/>
          </a:prstGeom>
          <a:solidFill>
            <a:srgbClr val="9B59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119872" y="3547871"/>
            <a:ext cx="3520440" cy="1874519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bubblepal_cover_1000x86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3657599"/>
            <a:ext cx="1325880" cy="11430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9720072" y="3694175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6B6F6A"/>
                </a:solidFill>
                <a:latin typeface="Microsoft YaHei"/>
                <a:ea typeface="Microsoft YaHei"/>
              </a:rPr>
              <a:t>BubblePal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20072" y="4050791"/>
            <a:ext cx="1737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B6F6A"/>
                </a:solidFill>
                <a:latin typeface="Microsoft YaHei"/>
                <a:ea typeface="Microsoft YaHei"/>
              </a:rPr>
              <a:t>语音挂件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20072" y="4443983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A1A1A"/>
                </a:solidFill>
                <a:latin typeface="Microsoft YaHei"/>
                <a:ea typeface="Microsoft YaHei"/>
              </a:rPr>
              <a:t>强低价</a:t>
            </a:r>
          </a:p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A1A1A"/>
                </a:solidFill>
                <a:latin typeface="Microsoft YaHei"/>
                <a:ea typeface="Microsoft YaHei"/>
              </a:rPr>
              <a:t>无机体生命感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119872" y="5303519"/>
            <a:ext cx="3520440" cy="118872"/>
          </a:xfrm>
          <a:prstGeom prst="roundRect">
            <a:avLst/>
          </a:prstGeom>
          <a:solidFill>
            <a:srgbClr val="6B6F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13232" y="5440680"/>
            <a:ext cx="2542032" cy="62179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" y="5513832"/>
            <a:ext cx="22860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6B6F6A"/>
                </a:solidFill>
                <a:latin typeface="Microsoft YaHei"/>
                <a:ea typeface="Microsoft YaHei"/>
              </a:rPr>
              <a:t>眼睛方案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5696712"/>
            <a:ext cx="10424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50" b="0" i="0">
                <a:solidFill>
                  <a:srgbClr val="B03A3A"/>
                </a:solidFill>
                <a:latin typeface="Microsoft YaHei"/>
                <a:ea typeface="Microsoft YaHei"/>
              </a:rPr>
              <a:t>屏幕/表情屏为主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20240" y="5678424"/>
            <a:ext cx="12070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50" b="1" i="0">
                <a:solidFill>
                  <a:srgbClr val="2F6B1C"/>
                </a:solidFill>
                <a:latin typeface="Microsoft YaHei"/>
                <a:ea typeface="Microsoft YaHei"/>
              </a:rPr>
              <a:t>真实眼球 + 眼皮微机构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56432" y="5440680"/>
            <a:ext cx="2542032" cy="621792"/>
          </a:xfrm>
          <a:prstGeom prst="roundRect">
            <a:avLst/>
          </a:prstGeom>
          <a:solidFill>
            <a:srgbClr val="E9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566160" y="5513832"/>
            <a:ext cx="22860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6B6F6A"/>
                </a:solidFill>
                <a:latin typeface="Microsoft YaHei"/>
                <a:ea typeface="Microsoft YaHei"/>
              </a:rPr>
              <a:t>肢体动作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696712"/>
            <a:ext cx="10424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50" b="0" i="0">
                <a:solidFill>
                  <a:srgbClr val="B03A3A"/>
                </a:solidFill>
                <a:latin typeface="Microsoft YaHei"/>
                <a:ea typeface="Microsoft YaHei"/>
              </a:rPr>
              <a:t>轮式/履带/局部动作, 或几乎不动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5678424"/>
            <a:ext cx="12070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50" b="1" i="0">
                <a:solidFill>
                  <a:srgbClr val="2F6B1C"/>
                </a:solidFill>
                <a:latin typeface="Microsoft YaHei"/>
                <a:ea typeface="Microsoft YaHei"/>
              </a:rPr>
              <a:t>桌面坐姿 + 前肢/头部/眼神动作库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199632" y="5440680"/>
            <a:ext cx="2542032" cy="62179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0" y="5513832"/>
            <a:ext cx="22860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6B6F6A"/>
                </a:solidFill>
                <a:latin typeface="Microsoft YaHei"/>
                <a:ea typeface="Microsoft YaHei"/>
              </a:rPr>
              <a:t>情感载体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0" y="5696712"/>
            <a:ext cx="10424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50" b="0" i="0">
                <a:solidFill>
                  <a:srgbClr val="B03A3A"/>
                </a:solidFill>
                <a:latin typeface="Microsoft YaHei"/>
                <a:ea typeface="Microsoft YaHei"/>
              </a:rPr>
              <a:t>硬壳机器人或无 IP 毛绒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06640" y="5678424"/>
            <a:ext cx="12070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50" b="1" i="0">
                <a:solidFill>
                  <a:srgbClr val="2F6B1C"/>
                </a:solidFill>
                <a:latin typeface="Microsoft YaHei"/>
                <a:ea typeface="Microsoft YaHei"/>
              </a:rPr>
              <a:t>真实熊猫花花形象 + 毛绒可抱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942832" y="5440680"/>
            <a:ext cx="2542032" cy="621792"/>
          </a:xfrm>
          <a:prstGeom prst="roundRect">
            <a:avLst/>
          </a:prstGeom>
          <a:solidFill>
            <a:srgbClr val="E9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052560" y="5513832"/>
            <a:ext cx="22860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6B6F6A"/>
                </a:solidFill>
                <a:latin typeface="Microsoft YaHei"/>
                <a:ea typeface="Microsoft YaHei"/>
              </a:rPr>
              <a:t>主攻尺寸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52560" y="5696712"/>
            <a:ext cx="104241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50" b="0" i="0">
                <a:solidFill>
                  <a:srgbClr val="B03A3A"/>
                </a:solidFill>
                <a:latin typeface="Microsoft YaHei"/>
                <a:ea typeface="Microsoft YaHei"/>
              </a:rPr>
              <a:t>掌上/桌面玩具, 结构空间受限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49840" y="5678424"/>
            <a:ext cx="120700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850" b="1" i="0">
                <a:solidFill>
                  <a:srgbClr val="2F6B1C"/>
                </a:solidFill>
                <a:latin typeface="Microsoft YaHei"/>
                <a:ea typeface="Microsoft YaHei"/>
              </a:rPr>
              <a:t>桌面级 28-35cm, 留足眼部机构空间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3232" y="6190488"/>
            <a:ext cx="10698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A1A1A"/>
                </a:solidFill>
                <a:latin typeface="Microsoft YaHei"/>
                <a:ea typeface="Microsoft YaHei"/>
              </a:rPr>
              <a:t>结论：花花不是再做一个桌面机器人, 而是把「真实熊猫外观 + 机械眼神 + 毛绒陪伴 + AI成长」合成到一个可量产规格里。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28016" cy="566928"/>
          </a:xfrm>
          <a:prstGeom prst="rect">
            <a:avLst/>
          </a:prstGeom>
          <a:solidFill>
            <a:srgbClr val="4C9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4C9A2A"/>
                </a:solidFill>
                <a:latin typeface="Microsoft YaHei"/>
                <a:ea typeface="Microsoft YaHei"/>
              </a:rPr>
              <a:t>COMPETITION · 优缺点剖析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71323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1A1A"/>
                </a:solidFill>
                <a:latin typeface="Microsoft YaHei"/>
                <a:ea typeface="Microsoft YaHei"/>
              </a:rPr>
              <a:t>四类代表竞品的优势与短板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355080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6B6F6A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F6A"/>
                </a:solidFill>
                <a:latin typeface="Microsoft YaHei"/>
                <a:ea typeface="Microsoft YaHei"/>
              </a:rPr>
              <a:t>熊猫花花 · HuaHua AI Companion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554480"/>
            <a:ext cx="5285232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 Same Side Corner Rectangle 7"/>
          <p:cNvSpPr/>
          <p:nvPr/>
        </p:nvSpPr>
        <p:spPr>
          <a:xfrm>
            <a:off x="713232" y="1554480"/>
            <a:ext cx="5285232" cy="566928"/>
          </a:xfrm>
          <a:prstGeom prst="round2SameRect">
            <a:avLst/>
          </a:prstGeom>
          <a:solidFill>
            <a:srgbClr val="4C9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1609344"/>
            <a:ext cx="49194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Microsoft YaHei"/>
                <a:ea typeface="Microsoft YaHei"/>
              </a:rPr>
              <a:t>Loona  最强动作派</a:t>
            </a:r>
          </a:p>
        </p:txBody>
      </p:sp>
      <p:pic>
        <p:nvPicPr>
          <p:cNvPr id="10" name="Picture 9" descr="loona_cover_1000x9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" y="2304288"/>
            <a:ext cx="1234440" cy="11338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377440" y="2304288"/>
            <a:ext cx="3410713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2F6B1C"/>
                </a:solidFill>
                <a:latin typeface="Microsoft YaHei"/>
                <a:ea typeface="Microsoft YaHei"/>
              </a:rPr>
              <a:t>优: 5 TOPS BPU+4舵机, 动作流畅, ToF避障, GPT-4o, 700+表情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2999232"/>
            <a:ext cx="3410713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B03A3A"/>
                </a:solidFill>
                <a:latin typeface="Microsoft YaHei"/>
                <a:ea typeface="Microsoft YaHei"/>
              </a:rPr>
              <a:t>缺: 塑料机器狗形态, 无柔软可抱感, 眼睛是屏幕, 无IP, 价高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554480"/>
            <a:ext cx="5285232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 Same Side Corner Rectangle 13"/>
          <p:cNvSpPr/>
          <p:nvPr/>
        </p:nvSpPr>
        <p:spPr>
          <a:xfrm>
            <a:off x="6199632" y="1554480"/>
            <a:ext cx="5285232" cy="566928"/>
          </a:xfrm>
          <a:prstGeom prst="round2SameRect">
            <a:avLst/>
          </a:prstGeom>
          <a:solidFill>
            <a:srgbClr val="E8A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1609344"/>
            <a:ext cx="49194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Microsoft YaHei"/>
                <a:ea typeface="Microsoft YaHei"/>
              </a:rPr>
              <a:t>Ropet  最强毛绒养成派</a:t>
            </a:r>
          </a:p>
        </p:txBody>
      </p:sp>
      <p:pic>
        <p:nvPicPr>
          <p:cNvPr id="16" name="Picture 15" descr="ropet_1_cover_1000x9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5664" y="2304288"/>
            <a:ext cx="1234440" cy="113385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863840" y="2304288"/>
            <a:ext cx="3410713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2F6B1C"/>
                </a:solidFill>
                <a:latin typeface="Microsoft YaHei"/>
                <a:ea typeface="Microsoft YaHei"/>
              </a:rPr>
              <a:t>优: 软萌可抱, 视觉情感识别, 养成系统, 已售约2万台并完成A轮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999232"/>
            <a:ext cx="3410713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B03A3A"/>
                </a:solidFill>
                <a:latin typeface="Microsoft YaHei"/>
                <a:ea typeface="Microsoft YaHei"/>
              </a:rPr>
              <a:t>缺: 几乎不能动(无四肢/行走), 眼睛仍是屏幕, 续航一般, 无IP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3977640"/>
            <a:ext cx="5285232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713232" y="3977640"/>
            <a:ext cx="5285232" cy="566928"/>
          </a:xfrm>
          <a:prstGeom prst="round2SameRect">
            <a:avLst/>
          </a:prstGeom>
          <a:solidFill>
            <a:srgbClr val="FF7A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" y="4032504"/>
            <a:ext cx="49194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Microsoft YaHei"/>
                <a:ea typeface="Microsoft YaHei"/>
              </a:rPr>
              <a:t>Moflin/Casio  最强情感派</a:t>
            </a:r>
          </a:p>
        </p:txBody>
      </p:sp>
      <p:pic>
        <p:nvPicPr>
          <p:cNvPr id="22" name="Picture 21" descr="moflin_cover_1000x91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9264" y="4727448"/>
            <a:ext cx="1234440" cy="113385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377440" y="4727448"/>
            <a:ext cx="3410713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2F6B1C"/>
                </a:solidFill>
                <a:latin typeface="Microsoft YaHei"/>
                <a:ea typeface="Microsoft YaHei"/>
              </a:rPr>
              <a:t>优: 情感AI与性格成长顶级, 宣称400万种情感画像, 品牌背书强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7440" y="5422392"/>
            <a:ext cx="3410713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B03A3A"/>
                </a:solidFill>
                <a:latin typeface="Microsoft YaHei"/>
                <a:ea typeface="Microsoft YaHei"/>
              </a:rPr>
              <a:t>缺: 无四肢/不能动/不说话, 交互偏单向, 价格高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9632" y="3977640"/>
            <a:ext cx="5285232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 Same Side Corner Rectangle 25"/>
          <p:cNvSpPr/>
          <p:nvPr/>
        </p:nvSpPr>
        <p:spPr>
          <a:xfrm>
            <a:off x="6199632" y="3977640"/>
            <a:ext cx="5285232" cy="566928"/>
          </a:xfrm>
          <a:prstGeom prst="round2Same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8232" y="4032504"/>
            <a:ext cx="49194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Microsoft YaHei"/>
                <a:ea typeface="Microsoft YaHei"/>
              </a:rPr>
              <a:t>BubblePal  最轻插件派</a:t>
            </a:r>
          </a:p>
        </p:txBody>
      </p:sp>
      <p:pic>
        <p:nvPicPr>
          <p:cNvPr id="28" name="Picture 27" descr="bubblepal_cover_1000x91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5664" y="4727448"/>
            <a:ext cx="1234440" cy="113385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863840" y="4727448"/>
            <a:ext cx="3410713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2F6B1C"/>
                </a:solidFill>
                <a:latin typeface="Microsoft YaHei"/>
                <a:ea typeface="Microsoft YaHei"/>
              </a:rPr>
              <a:t>优: 成本极低, 即插即用, 可绑任意玩偶让其开口说话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5422392"/>
            <a:ext cx="3410713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B03A3A"/>
                </a:solidFill>
                <a:latin typeface="Microsoft YaHei"/>
                <a:ea typeface="Microsoft YaHei"/>
              </a:rPr>
              <a:t>缺: 没有任何机械动作与生命感, 本质是语音模块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4C9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9CD66B"/>
                </a:solidFill>
                <a:latin typeface="Microsoft YaHei"/>
                <a:ea typeface="Microsoft YaHei"/>
              </a:rPr>
              <a:t>PRODUCT · 产品定位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6868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</a:rPr>
              <a:t>主攻桌面级：小到能陪伴, 大到能塞进机械仿生眼</a:t>
            </a:r>
          </a:p>
        </p:txBody>
      </p:sp>
      <p:pic>
        <p:nvPicPr>
          <p:cNvPr id="5" name="Picture 4" descr="huahua_desktop_eye_module_cover_1000x5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508760"/>
            <a:ext cx="5349240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783080"/>
            <a:ext cx="5166360" cy="1691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9CD66B"/>
                </a:solidFill>
                <a:latin typeface="Microsoft YaHei"/>
              </a:rPr>
              <a:t>●  </a:t>
            </a:r>
            <a:r>
              <a:rPr sz="1350" b="1">
                <a:solidFill>
                  <a:srgbClr val="ECEFE8"/>
                </a:solidFill>
                <a:latin typeface="Microsoft YaHei"/>
                <a:ea typeface="Microsoft YaHei"/>
              </a:rPr>
              <a:t>目标规格</a:t>
            </a:r>
            <a:r>
              <a:rPr sz="1350">
                <a:solidFill>
                  <a:srgbClr val="ECEFE8"/>
                </a:solidFill>
                <a:latin typeface="Microsoft YaHei"/>
                <a:ea typeface="Microsoft YaHei"/>
              </a:rPr>
              <a:t>：桌面旗舰约 28-35cm, 坐姿稳定, 头部空间足够容纳双眼微型舵机模块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9CD66B"/>
                </a:solidFill>
                <a:latin typeface="Microsoft YaHei"/>
              </a:rPr>
              <a:t>●  </a:t>
            </a:r>
            <a:r>
              <a:rPr sz="1350" b="1">
                <a:solidFill>
                  <a:srgbClr val="ECEFE8"/>
                </a:solidFill>
                <a:latin typeface="Microsoft YaHei"/>
                <a:ea typeface="Microsoft YaHei"/>
              </a:rPr>
              <a:t>核心体验</a:t>
            </a:r>
            <a:r>
              <a:rPr sz="1350">
                <a:solidFill>
                  <a:srgbClr val="ECEFE8"/>
                </a:solidFill>
                <a:latin typeface="Microsoft YaHei"/>
                <a:ea typeface="Microsoft YaHei"/>
              </a:rPr>
              <a:t>：真实毛绒触感 + 机械眼球/眼皮 + 头部/前肢动作, 先做“坐着也有生命感”的花花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350" b="1">
                <a:solidFill>
                  <a:srgbClr val="9CD66B"/>
                </a:solidFill>
                <a:latin typeface="Microsoft YaHei"/>
              </a:rPr>
              <a:t>●  </a:t>
            </a:r>
            <a:r>
              <a:rPr sz="1350" b="1">
                <a:solidFill>
                  <a:srgbClr val="ECEFE8"/>
                </a:solidFill>
                <a:latin typeface="Microsoft YaHei"/>
                <a:ea typeface="Microsoft YaHei"/>
              </a:rPr>
              <a:t>研发取舍</a:t>
            </a:r>
            <a:r>
              <a:rPr sz="1350">
                <a:solidFill>
                  <a:srgbClr val="ECEFE8"/>
                </a:solidFill>
                <a:latin typeface="Microsoft YaHei"/>
                <a:ea typeface="Microsoft YaHei"/>
              </a:rPr>
              <a:t>：行走是二期加分项, 不能牺牲拟真外形与眼神机构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0332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9CD66B"/>
                </a:solidFill>
                <a:latin typeface="Microsoft YaHei"/>
                <a:ea typeface="Microsoft YaHei"/>
              </a:rPr>
              <a:t>尺寸策略</a:t>
            </a:r>
          </a:p>
        </p:txBody>
      </p:sp>
      <p:pic>
        <p:nvPicPr>
          <p:cNvPr id="8" name="Picture 7" descr="huahua_size_lineup_cover_1000x3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4069080"/>
            <a:ext cx="5349240" cy="166420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55080" y="4800600"/>
            <a:ext cx="1417320" cy="914400"/>
          </a:xfrm>
          <a:prstGeom prst="roundRect">
            <a:avLst/>
          </a:prstGeom>
          <a:solidFill>
            <a:srgbClr val="24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55080" y="4800600"/>
            <a:ext cx="1417320" cy="91440"/>
          </a:xfrm>
          <a:prstGeom prst="roundRect">
            <a:avLst/>
          </a:prstGeom>
          <a:solidFill>
            <a:srgbClr val="C9CE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4808" y="4919472"/>
            <a:ext cx="11887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C9CEC2"/>
                </a:solidFill>
                <a:latin typeface="Microsoft YaHei"/>
                <a:ea typeface="Microsoft YaHei"/>
              </a:rPr>
              <a:t>Mini 18cm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64808" y="5230368"/>
            <a:ext cx="1188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919" b="0" i="0">
                <a:solidFill>
                  <a:srgbClr val="D7DBD2"/>
                </a:solidFill>
                <a:latin typeface="Microsoft YaHei"/>
                <a:ea typeface="Microsoft YaHei"/>
              </a:rPr>
              <a:t>低价可爱款</a:t>
            </a:r>
          </a:p>
          <a:p>
            <a:pPr algn="l">
              <a:lnSpc>
                <a:spcPct val="90000"/>
              </a:lnSpc>
            </a:pPr>
            <a:r>
              <a:rPr sz="919" b="0" i="0">
                <a:solidFill>
                  <a:srgbClr val="D7DBD2"/>
                </a:solidFill>
                <a:latin typeface="Microsoft YaHei"/>
                <a:ea typeface="Microsoft YaHei"/>
              </a:rPr>
              <a:t>眼部机构空间紧张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2712" y="4800600"/>
            <a:ext cx="1417320" cy="914400"/>
          </a:xfrm>
          <a:prstGeom prst="roundRect">
            <a:avLst/>
          </a:prstGeom>
          <a:solidFill>
            <a:srgbClr val="24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982712" y="4800600"/>
            <a:ext cx="1417320" cy="91440"/>
          </a:xfrm>
          <a:prstGeom prst="roundRect">
            <a:avLst/>
          </a:prstGeom>
          <a:solidFill>
            <a:srgbClr val="E8A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4919472"/>
            <a:ext cx="11887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E8A82B"/>
                </a:solidFill>
                <a:latin typeface="Microsoft YaHei"/>
                <a:ea typeface="Microsoft YaHei"/>
              </a:rPr>
              <a:t>Desktop 28-35cm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92440" y="5230368"/>
            <a:ext cx="1188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919" b="0" i="0">
                <a:solidFill>
                  <a:srgbClr val="D7DBD2"/>
                </a:solidFill>
                <a:latin typeface="Microsoft YaHei"/>
                <a:ea typeface="Microsoft YaHei"/>
              </a:rPr>
              <a:t>主攻旗舰</a:t>
            </a:r>
          </a:p>
          <a:p>
            <a:pPr algn="l">
              <a:lnSpc>
                <a:spcPct val="90000"/>
              </a:lnSpc>
            </a:pPr>
            <a:r>
              <a:rPr sz="919" b="0" i="0">
                <a:solidFill>
                  <a:srgbClr val="D7DBD2"/>
                </a:solidFill>
                <a:latin typeface="Microsoft YaHei"/>
                <a:ea typeface="Microsoft YaHei"/>
              </a:rPr>
              <a:t>能放下机械眼睛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10344" y="4800600"/>
            <a:ext cx="1417320" cy="914400"/>
          </a:xfrm>
          <a:prstGeom prst="roundRect">
            <a:avLst/>
          </a:prstGeom>
          <a:solidFill>
            <a:srgbClr val="24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10344" y="4800600"/>
            <a:ext cx="1417320" cy="91440"/>
          </a:xfrm>
          <a:prstGeom prst="roundRect">
            <a:avLst/>
          </a:prstGeom>
          <a:solidFill>
            <a:srgbClr val="FF7A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20072" y="4919472"/>
            <a:ext cx="11887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FF7A93"/>
                </a:solidFill>
                <a:latin typeface="Microsoft YaHei"/>
                <a:ea typeface="Microsoft YaHei"/>
              </a:rPr>
              <a:t>Collector 70cm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0072" y="5230368"/>
            <a:ext cx="1188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919" b="0" i="0">
                <a:solidFill>
                  <a:srgbClr val="D7DBD2"/>
                </a:solidFill>
                <a:latin typeface="Microsoft YaHei"/>
                <a:ea typeface="Microsoft YaHei"/>
              </a:rPr>
              <a:t>展示/联名款</a:t>
            </a:r>
          </a:p>
          <a:p>
            <a:pPr algn="l">
              <a:lnSpc>
                <a:spcPct val="90000"/>
              </a:lnSpc>
            </a:pPr>
            <a:r>
              <a:rPr sz="919" b="0" i="0">
                <a:solidFill>
                  <a:srgbClr val="D7DBD2"/>
                </a:solidFill>
                <a:latin typeface="Microsoft YaHei"/>
                <a:ea typeface="Microsoft YaHei"/>
              </a:rPr>
              <a:t>成本与物流更重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096512"/>
            <a:ext cx="484632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</a:rPr>
              <a:t>桌面级不是妥协，而是机械眼、毛绒外观、可抱体积和量产成本之间的最佳交点。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28016" cy="566928"/>
          </a:xfrm>
          <a:prstGeom prst="rect">
            <a:avLst/>
          </a:prstGeom>
          <a:solidFill>
            <a:srgbClr val="4C9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4C9A2A"/>
                </a:solidFill>
                <a:latin typeface="Microsoft YaHei"/>
                <a:ea typeface="Microsoft YaHei"/>
              </a:rPr>
              <a:t>TECH 1/4 · 仿生眼睛系统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71323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1A1A"/>
                </a:solidFill>
                <a:latin typeface="Microsoft YaHei"/>
                <a:ea typeface="Microsoft YaHei"/>
              </a:rPr>
              <a:t>会转动、会眨眼的机械仿生眼 (第一差异化)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355080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6B6F6A"/>
                </a:solidFill>
                <a:latin typeface="Microsoft YaHei"/>
                <a:ea typeface="Microsoft YaHei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F6A"/>
                </a:solidFill>
                <a:latin typeface="Microsoft YaHei"/>
                <a:ea typeface="Microsoft YaHei"/>
              </a:rPr>
              <a:t>熊猫花花 · HuaHua AI Companion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41732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6B6F6A"/>
                </a:solidFill>
                <a:latin typeface="Microsoft YaHei"/>
                <a:ea typeface="Microsoft YaHei"/>
              </a:rPr>
              <a:t>采用机械仿生眼而非屏幕画眼 —— 这是与几乎所有竞品拉开「真实生命感」差距的关键。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2057400"/>
            <a:ext cx="5486400" cy="39319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2402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2F6B1C"/>
                </a:solidFill>
                <a:latin typeface="Microsoft YaHei"/>
                <a:ea typeface="Microsoft YaHei"/>
              </a:rPr>
              <a:t>机构与驱动方案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788920"/>
            <a:ext cx="5029200" cy="31089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4C9A2A"/>
                </a:solidFill>
                <a:latin typeface="Microsoft YaHei"/>
              </a:rPr>
              <a:t>●  </a:t>
            </a: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每只眼 3 个微型舵机</a:t>
            </a:r>
            <a:r>
              <a:rPr sz="1300">
                <a:solidFill>
                  <a:srgbClr val="1A1A1A"/>
                </a:solidFill>
                <a:latin typeface="Microsoft YaHei"/>
                <a:ea typeface="Microsoft YaHei"/>
              </a:rPr>
              <a:t>：2 轴控制眼球 X/Y 转动 + 1 轴控制眼皮开合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4C9A2A"/>
                </a:solidFill>
                <a:latin typeface="Microsoft YaHei"/>
              </a:rPr>
              <a:t>●  </a:t>
            </a: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双眼共 6 舵机</a:t>
            </a:r>
            <a:r>
              <a:rPr sz="1300">
                <a:solidFill>
                  <a:srgbClr val="1A1A1A"/>
                </a:solidFill>
                <a:latin typeface="Microsoft YaHei"/>
                <a:ea typeface="Microsoft YaHei"/>
              </a:rPr>
              <a:t>：可实现注视、眨眼、眯眼、惊讶睁大、困倦半睁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4C9A2A"/>
                </a:solidFill>
                <a:latin typeface="Microsoft YaHei"/>
              </a:rPr>
              <a:t>●  </a:t>
            </a: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万向节 + 推杆联动</a:t>
            </a:r>
            <a:r>
              <a:rPr sz="1300">
                <a:solidFill>
                  <a:srgbClr val="1A1A1A"/>
                </a:solidFill>
                <a:latin typeface="Microsoft YaHei"/>
                <a:ea typeface="Microsoft YaHei"/>
              </a:rPr>
              <a:t>，3D 打印紧凑机构,可塞进熊猫头部狭小空间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4C9A2A"/>
                </a:solidFill>
                <a:latin typeface="Microsoft YaHei"/>
              </a:rPr>
              <a:t>●  </a:t>
            </a: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MCU(ESP32/STM32) 输出 PWM</a:t>
            </a:r>
            <a:r>
              <a:rPr sz="1300">
                <a:solidFill>
                  <a:srgbClr val="1A1A1A"/>
                </a:solidFill>
                <a:latin typeface="Microsoft YaHei"/>
                <a:ea typeface="Microsoft YaHei"/>
              </a:rPr>
              <a:t>，每眼≥3 路, 静音舵机降噪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4C9A2A"/>
                </a:solidFill>
                <a:latin typeface="Microsoft YaHei"/>
              </a:rPr>
              <a:t>●  </a:t>
            </a:r>
            <a:r>
              <a:rPr sz="1300" b="1">
                <a:solidFill>
                  <a:srgbClr val="1A1A1A"/>
                </a:solidFill>
                <a:latin typeface="Microsoft YaHei"/>
                <a:ea typeface="Microsoft YaHei"/>
              </a:rPr>
              <a:t>前置摄像头检测人脸/视线</a:t>
            </a:r>
            <a:r>
              <a:rPr sz="1300">
                <a:solidFill>
                  <a:srgbClr val="1A1A1A"/>
                </a:solidFill>
                <a:latin typeface="Microsoft YaHei"/>
                <a:ea typeface="Microsoft YaHei"/>
              </a:rPr>
              <a:t>→ 眼球自动看向人, 实现对视与眼神跟随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057400"/>
            <a:ext cx="5074920" cy="393192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212848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</a:rPr>
              <a:t>情绪化眼神映射</a:t>
            </a:r>
          </a:p>
        </p:txBody>
      </p:sp>
      <p:sp>
        <p:nvSpPr>
          <p:cNvPr id="13" name="Oval 12"/>
          <p:cNvSpPr/>
          <p:nvPr/>
        </p:nvSpPr>
        <p:spPr>
          <a:xfrm>
            <a:off x="6519672" y="2770632"/>
            <a:ext cx="768096" cy="7680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692494" y="2943454"/>
            <a:ext cx="422452" cy="42245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25512" y="2770632"/>
            <a:ext cx="768096" cy="7680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698334" y="2943454"/>
            <a:ext cx="422452" cy="42245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61188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CFE8B8"/>
                </a:solidFill>
                <a:latin typeface="Microsoft YaHei"/>
                <a:ea typeface="Microsoft YaHei"/>
              </a:rPr>
              <a:t>睁眼·专注</a:t>
            </a:r>
          </a:p>
        </p:txBody>
      </p:sp>
      <p:sp>
        <p:nvSpPr>
          <p:cNvPr id="18" name="Oval 17"/>
          <p:cNvSpPr/>
          <p:nvPr/>
        </p:nvSpPr>
        <p:spPr>
          <a:xfrm>
            <a:off x="9445752" y="2770632"/>
            <a:ext cx="768096" cy="7680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18574" y="2943454"/>
            <a:ext cx="422452" cy="42245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45752" y="2770632"/>
            <a:ext cx="768096" cy="384048"/>
          </a:xfrm>
          <a:prstGeom prst="rect">
            <a:avLst/>
          </a:prstGeom>
          <a:solidFill>
            <a:srgbClr val="4C9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451592" y="2770632"/>
            <a:ext cx="768096" cy="7680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624414" y="2943454"/>
            <a:ext cx="422452" cy="42245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451592" y="2770632"/>
            <a:ext cx="768096" cy="384048"/>
          </a:xfrm>
          <a:prstGeom prst="rect">
            <a:avLst/>
          </a:prstGeom>
          <a:solidFill>
            <a:srgbClr val="4C9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20" y="361188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CFE8B8"/>
                </a:solidFill>
                <a:latin typeface="Microsoft YaHei"/>
                <a:ea typeface="Microsoft YaHei"/>
              </a:rPr>
              <a:t>半睁·困倦</a:t>
            </a:r>
          </a:p>
        </p:txBody>
      </p:sp>
      <p:sp>
        <p:nvSpPr>
          <p:cNvPr id="25" name="Oval 24"/>
          <p:cNvSpPr/>
          <p:nvPr/>
        </p:nvSpPr>
        <p:spPr>
          <a:xfrm>
            <a:off x="6519672" y="4325112"/>
            <a:ext cx="768096" cy="7680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692494" y="4497934"/>
            <a:ext cx="422452" cy="42245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19672" y="4325112"/>
            <a:ext cx="768096" cy="652881"/>
          </a:xfrm>
          <a:prstGeom prst="rect">
            <a:avLst/>
          </a:prstGeom>
          <a:solidFill>
            <a:srgbClr val="4C9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25512" y="4325112"/>
            <a:ext cx="768096" cy="7680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698334" y="4497934"/>
            <a:ext cx="422452" cy="42245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525512" y="4325112"/>
            <a:ext cx="768096" cy="652881"/>
          </a:xfrm>
          <a:prstGeom prst="rect">
            <a:avLst/>
          </a:prstGeom>
          <a:solidFill>
            <a:srgbClr val="4C9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516636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CFE8B8"/>
                </a:solidFill>
                <a:latin typeface="Microsoft YaHei"/>
                <a:ea typeface="Microsoft YaHei"/>
              </a:rPr>
              <a:t>眨眼·闭合</a:t>
            </a:r>
          </a:p>
        </p:txBody>
      </p:sp>
      <p:sp>
        <p:nvSpPr>
          <p:cNvPr id="32" name="Oval 31"/>
          <p:cNvSpPr/>
          <p:nvPr/>
        </p:nvSpPr>
        <p:spPr>
          <a:xfrm>
            <a:off x="9445752" y="4325112"/>
            <a:ext cx="768096" cy="7680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618574" y="4497934"/>
            <a:ext cx="422452" cy="42245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451592" y="4325112"/>
            <a:ext cx="768096" cy="7680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624414" y="4497934"/>
            <a:ext cx="422452" cy="422452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18320" y="516636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 i="0">
                <a:solidFill>
                  <a:srgbClr val="CFE8B8"/>
                </a:solidFill>
                <a:latin typeface="Microsoft YaHei"/>
                <a:ea typeface="Microsoft YaHei"/>
              </a:rPr>
              <a:t>睁大·惊喜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486400"/>
            <a:ext cx="5074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B9C8AD"/>
                </a:solidFill>
                <a:latin typeface="Microsoft YaHei"/>
                <a:ea typeface="Microsoft YaHei"/>
              </a:rPr>
              <a:t>情感引擎输出情绪标签 → 映射为眼球+眼皮动作曲线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28016" cy="566928"/>
          </a:xfrm>
          <a:prstGeom prst="rect">
            <a:avLst/>
          </a:prstGeom>
          <a:solidFill>
            <a:srgbClr val="4C9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4C9A2A"/>
                </a:solidFill>
                <a:latin typeface="Microsoft YaHei"/>
                <a:ea typeface="Microsoft YaHei"/>
              </a:rPr>
              <a:t>TECH 1/4 · 内部结构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71323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1A1A"/>
                </a:solidFill>
                <a:latin typeface="Microsoft YaHei"/>
                <a:ea typeface="Microsoft YaHei"/>
              </a:rPr>
              <a:t>内部结构爆炸示意图：机构全部藏在毛绒下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355080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6B6F6A"/>
                </a:solidFill>
                <a:latin typeface="Microsoft YaHei"/>
                <a:ea typeface="Microsoft YaHei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F6A"/>
                </a:solidFill>
                <a:latin typeface="Microsoft YaHei"/>
                <a:ea typeface="Microsoft YaHei"/>
              </a:rPr>
              <a:t>熊猫花花 · HuaHua AI Companion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371600"/>
            <a:ext cx="10698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6B6F6A"/>
                </a:solidFill>
                <a:latin typeface="Microsoft YaHei"/>
                <a:ea typeface="Microsoft YaHei"/>
              </a:rPr>
              <a:t>由外到内 4 层：舵机 / 电子 / 线缆全部封装在毛绒蒙皮内，任何角度都看不到机械结构。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920240"/>
            <a:ext cx="2487168" cy="17556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 Same Side Corner Rectangle 8"/>
          <p:cNvSpPr/>
          <p:nvPr/>
        </p:nvSpPr>
        <p:spPr>
          <a:xfrm>
            <a:off x="713232" y="1920240"/>
            <a:ext cx="2487168" cy="475488"/>
          </a:xfrm>
          <a:prstGeom prst="round2SameRect">
            <a:avLst/>
          </a:prstGeom>
          <a:solidFill>
            <a:srgbClr val="FF7A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47672"/>
            <a:ext cx="230428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icrosoft YaHei"/>
                <a:ea typeface="Microsoft YaHei"/>
              </a:rPr>
              <a:t>① 拟真毛绒外皮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542032"/>
            <a:ext cx="2176272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A1A1A"/>
                </a:solidFill>
                <a:latin typeface="Microsoft YaHei"/>
                <a:ea typeface="Microsoft YaHei"/>
              </a:rPr>
              <a:t>看到的就是真熊猫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A1A1A"/>
                </a:solidFill>
                <a:latin typeface="Microsoft YaHei"/>
                <a:ea typeface="Microsoft YaHei"/>
              </a:rPr>
              <a:t>可拆洗·背部隐藏拉链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82112" y="1920240"/>
            <a:ext cx="201168" cy="1755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6B6F6A"/>
                </a:solidFill>
                <a:latin typeface="Microsoft YaHei"/>
                <a:ea typeface="Microsoft YaHei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64992" y="1920240"/>
            <a:ext cx="2487168" cy="17556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 Same Side Corner Rectangle 13"/>
          <p:cNvSpPr/>
          <p:nvPr/>
        </p:nvSpPr>
        <p:spPr>
          <a:xfrm>
            <a:off x="3364992" y="1920240"/>
            <a:ext cx="2487168" cy="475488"/>
          </a:xfrm>
          <a:prstGeom prst="round2SameRect">
            <a:avLst/>
          </a:prstGeom>
          <a:solidFill>
            <a:srgbClr val="E8A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1947672"/>
            <a:ext cx="230428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1A1A1A"/>
                </a:solidFill>
                <a:latin typeface="Microsoft YaHei"/>
                <a:ea typeface="Microsoft YaHei"/>
              </a:rPr>
              <a:t>② 弹性海绵/记忆棉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9584" y="2542032"/>
            <a:ext cx="2176272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A1A1A"/>
                </a:solidFill>
                <a:latin typeface="Microsoft YaHei"/>
                <a:ea typeface="Microsoft YaHei"/>
              </a:rPr>
              <a:t>柔软可抱手感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A1A1A"/>
                </a:solidFill>
                <a:latin typeface="Microsoft YaHei"/>
                <a:ea typeface="Microsoft YaHei"/>
              </a:rPr>
              <a:t>包裹并隐藏机构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33872" y="1920240"/>
            <a:ext cx="201168" cy="1755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6B6F6A"/>
                </a:solidFill>
                <a:latin typeface="Microsoft YaHei"/>
                <a:ea typeface="Microsoft YaHe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16752" y="1920240"/>
            <a:ext cx="2487168" cy="17556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 Same Side Corner Rectangle 18"/>
          <p:cNvSpPr/>
          <p:nvPr/>
        </p:nvSpPr>
        <p:spPr>
          <a:xfrm>
            <a:off x="6016752" y="1920240"/>
            <a:ext cx="2487168" cy="475488"/>
          </a:xfrm>
          <a:prstGeom prst="round2SameRect">
            <a:avLst/>
          </a:prstGeom>
          <a:solidFill>
            <a:srgbClr val="4C9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08192" y="1947672"/>
            <a:ext cx="230428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icrosoft YaHei"/>
                <a:ea typeface="Microsoft YaHei"/>
              </a:rPr>
              <a:t>③ 内骨骼 + 关节舵机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81344" y="2542032"/>
            <a:ext cx="2176272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A1A1A"/>
                </a:solidFill>
                <a:latin typeface="Microsoft YaHei"/>
                <a:ea typeface="Microsoft YaHei"/>
              </a:rPr>
              <a:t>头2·前肢4·腰1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A1A1A"/>
                </a:solidFill>
                <a:latin typeface="Microsoft YaHei"/>
                <a:ea typeface="Microsoft YaHei"/>
              </a:rPr>
              <a:t>承力支架+仿生眼6舵机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85632" y="1920240"/>
            <a:ext cx="201168" cy="1755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6B6F6A"/>
                </a:solidFill>
                <a:latin typeface="Microsoft YaHei"/>
                <a:ea typeface="Microsoft YaHei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68512" y="1920240"/>
            <a:ext cx="2487168" cy="17556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 Same Side Corner Rectangle 23"/>
          <p:cNvSpPr/>
          <p:nvPr/>
        </p:nvSpPr>
        <p:spPr>
          <a:xfrm>
            <a:off x="8668512" y="1920240"/>
            <a:ext cx="2487168" cy="475488"/>
          </a:xfrm>
          <a:prstGeom prst="round2Same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59952" y="1947672"/>
            <a:ext cx="230428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icrosoft YaHei"/>
                <a:ea typeface="Microsoft YaHei"/>
              </a:rPr>
              <a:t>④ 电子核心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33104" y="2542032"/>
            <a:ext cx="2176272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A1A1A"/>
                </a:solidFill>
                <a:latin typeface="Microsoft YaHei"/>
                <a:ea typeface="Microsoft YaHei"/>
              </a:rPr>
              <a:t>ESP32(小智)·舵机驱动板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A1A1A"/>
                </a:solidFill>
                <a:latin typeface="Microsoft YaHei"/>
                <a:ea typeface="Microsoft YaHei"/>
              </a:rPr>
              <a:t>电池·麦克风/扬声器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3803904"/>
            <a:ext cx="10762488" cy="45720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" y="3803904"/>
            <a:ext cx="1076248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9CD66B"/>
                </a:solidFill>
                <a:latin typeface="Microsoft YaHei"/>
                <a:ea typeface="Microsoft YaHei"/>
              </a:rPr>
              <a:t>＝ 外观零机械裸露的真熊猫，却会眨眼 · 说话 · 招手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4407408"/>
            <a:ext cx="10762488" cy="1901952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498848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</a:rPr>
              <a:t>仿生眼模组（爆炸视图）· 双眼共 6 舵机 · 整体藏于熊猫头部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371599" y="4910328"/>
            <a:ext cx="1005840" cy="914400"/>
          </a:xfrm>
          <a:prstGeom prst="roundRect">
            <a:avLst/>
          </a:prstGeom>
          <a:solidFill>
            <a:srgbClr val="2C332A"/>
          </a:solidFill>
          <a:ln w="12700">
            <a:solidFill>
              <a:srgbClr val="9CD6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399" y="5824728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D8DCD2"/>
                </a:solidFill>
                <a:latin typeface="Microsoft YaHei"/>
                <a:ea typeface="Microsoft YaHei"/>
              </a:rPr>
              <a:t>3D打印支架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88920" y="5138928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7E8678"/>
                </a:solidFill>
                <a:latin typeface="Microsoft YaHei"/>
                <a:ea typeface="Microsoft YaHei"/>
              </a:rPr>
              <a:t>+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13048" y="4956048"/>
            <a:ext cx="420624" cy="310896"/>
          </a:xfrm>
          <a:prstGeom prst="roundRect">
            <a:avLst/>
          </a:prstGeom>
          <a:solidFill>
            <a:srgbClr val="E8A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813048" y="5413248"/>
            <a:ext cx="420624" cy="310896"/>
          </a:xfrm>
          <a:prstGeom prst="roundRect">
            <a:avLst/>
          </a:prstGeom>
          <a:solidFill>
            <a:srgbClr val="E8A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63240" y="5824728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D8DCD2"/>
                </a:solidFill>
                <a:latin typeface="Microsoft YaHei"/>
                <a:ea typeface="Microsoft YaHei"/>
              </a:rPr>
              <a:t>X/Y 双轴舵机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92040" y="5138928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7E8678"/>
                </a:solidFill>
                <a:latin typeface="Microsoft YaHei"/>
                <a:ea typeface="Microsoft YaHei"/>
              </a:rPr>
              <a:t>+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577840" y="5321808"/>
            <a:ext cx="822960" cy="109728"/>
          </a:xfrm>
          <a:prstGeom prst="roundRect">
            <a:avLst/>
          </a:prstGeom>
          <a:solidFill>
            <a:srgbClr val="C9CE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5943600" y="5093208"/>
            <a:ext cx="109728" cy="566928"/>
          </a:xfrm>
          <a:prstGeom prst="roundRect">
            <a:avLst/>
          </a:prstGeom>
          <a:solidFill>
            <a:srgbClr val="C9CE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0" y="5824728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D8DCD2"/>
                </a:solidFill>
                <a:latin typeface="Microsoft YaHei"/>
                <a:ea typeface="Microsoft YaHei"/>
              </a:rPr>
              <a:t>推杆/连杆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5138928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7E8678"/>
                </a:solidFill>
                <a:latin typeface="Microsoft YaHei"/>
                <a:ea typeface="Microsoft YaHei"/>
              </a:rPr>
              <a:t>+</a:t>
            </a:r>
          </a:p>
        </p:txBody>
      </p:sp>
      <p:sp>
        <p:nvSpPr>
          <p:cNvPr id="42" name="Oval 41"/>
          <p:cNvSpPr/>
          <p:nvPr/>
        </p:nvSpPr>
        <p:spPr>
          <a:xfrm>
            <a:off x="7635240" y="4910328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891272" y="5166360"/>
            <a:ext cx="402336" cy="40233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982712" y="5239512"/>
            <a:ext cx="128016" cy="12801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132320" y="5824728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D8DCD2"/>
                </a:solidFill>
                <a:latin typeface="Microsoft YaHei"/>
                <a:ea typeface="Microsoft YaHei"/>
              </a:rPr>
              <a:t>眼球(可转)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61120" y="5138928"/>
            <a:ext cx="365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 i="0">
                <a:solidFill>
                  <a:srgbClr val="7E8678"/>
                </a:solidFill>
                <a:latin typeface="Microsoft YaHei"/>
                <a:ea typeface="Microsoft YaHei"/>
              </a:rPr>
              <a:t>+</a:t>
            </a:r>
          </a:p>
        </p:txBody>
      </p:sp>
      <p:sp>
        <p:nvSpPr>
          <p:cNvPr id="47" name="Round Same Side Corner Rectangle 46"/>
          <p:cNvSpPr/>
          <p:nvPr/>
        </p:nvSpPr>
        <p:spPr>
          <a:xfrm>
            <a:off x="9738360" y="4910328"/>
            <a:ext cx="914400" cy="457200"/>
          </a:xfrm>
          <a:prstGeom prst="round2SameRect">
            <a:avLst/>
          </a:prstGeom>
          <a:solidFill>
            <a:srgbClr val="4C9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9985248" y="5468112"/>
            <a:ext cx="420624" cy="310896"/>
          </a:xfrm>
          <a:prstGeom prst="roundRect">
            <a:avLst/>
          </a:prstGeom>
          <a:solidFill>
            <a:srgbClr val="E8A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35440" y="5824728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D8DCD2"/>
                </a:solidFill>
                <a:latin typeface="Microsoft YaHei"/>
                <a:ea typeface="Microsoft YaHei"/>
              </a:rPr>
              <a:t>眼皮(可眨)+舵机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28016" cy="566928"/>
          </a:xfrm>
          <a:prstGeom prst="rect">
            <a:avLst/>
          </a:prstGeom>
          <a:solidFill>
            <a:srgbClr val="4C9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4C9A2A"/>
                </a:solidFill>
                <a:latin typeface="Microsoft YaHei"/>
                <a:ea typeface="Microsoft YaHei"/>
              </a:rPr>
              <a:t>TECH 2/4 · 运动系统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71323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1A1A"/>
                </a:solidFill>
                <a:latin typeface="Microsoft YaHei"/>
                <a:ea typeface="Microsoft YaHei"/>
              </a:rPr>
              <a:t>可动头部与四肢：12–16 自由度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355080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6B6F6A"/>
                </a:solidFill>
                <a:latin typeface="Microsoft YaHei"/>
                <a:ea typeface="Microsoft YaHei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F6A"/>
                </a:solidFill>
                <a:latin typeface="Microsoft YaHei"/>
                <a:ea typeface="Microsoft YaHei"/>
              </a:rPr>
              <a:t>熊猫花花 · HuaHua AI Companion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645920"/>
            <a:ext cx="5669280" cy="5669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1645920"/>
            <a:ext cx="128016" cy="566928"/>
          </a:xfrm>
          <a:prstGeom prst="roundRect">
            <a:avLst/>
          </a:prstGeom>
          <a:solidFill>
            <a:srgbClr val="FF7A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45920"/>
            <a:ext cx="14630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Microsoft YaHei"/>
                <a:ea typeface="Microsoft YaHei"/>
              </a:rPr>
              <a:t>眼睛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1645920"/>
            <a:ext cx="8229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7A93"/>
                </a:solidFill>
                <a:latin typeface="Microsoft YaHei"/>
                <a:ea typeface="Microsoft YaHei"/>
              </a:rPr>
              <a:t>6 DoF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645920"/>
            <a:ext cx="2926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B6F6A"/>
                </a:solidFill>
                <a:latin typeface="Microsoft YaHei"/>
                <a:ea typeface="Microsoft YaHei"/>
              </a:rPr>
              <a:t>转动 / 眨眼 / 眯眼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322576"/>
            <a:ext cx="5669280" cy="5669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13232" y="2322576"/>
            <a:ext cx="128016" cy="566928"/>
          </a:xfrm>
          <a:prstGeom prst="roundRect">
            <a:avLst/>
          </a:prstGeom>
          <a:solidFill>
            <a:srgbClr val="4C9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322576"/>
            <a:ext cx="14630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Microsoft YaHei"/>
                <a:ea typeface="Microsoft YaHei"/>
              </a:rPr>
              <a:t>头部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322576"/>
            <a:ext cx="8229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4C9A2A"/>
                </a:solidFill>
                <a:latin typeface="Microsoft YaHei"/>
                <a:ea typeface="Microsoft YaHei"/>
              </a:rPr>
              <a:t>2 DoF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322576"/>
            <a:ext cx="2926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B6F6A"/>
                </a:solidFill>
                <a:latin typeface="Microsoft YaHei"/>
                <a:ea typeface="Microsoft YaHei"/>
              </a:rPr>
              <a:t>点头 / 摇头 / 侧头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2999232"/>
            <a:ext cx="5669280" cy="5669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13232" y="2999232"/>
            <a:ext cx="128016" cy="566928"/>
          </a:xfrm>
          <a:prstGeom prst="roundRect">
            <a:avLst/>
          </a:prstGeom>
          <a:solidFill>
            <a:srgbClr val="E8A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2999232"/>
            <a:ext cx="14630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Microsoft YaHei"/>
                <a:ea typeface="Microsoft YaHei"/>
              </a:rPr>
              <a:t>嘴部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2999232"/>
            <a:ext cx="8229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A82B"/>
                </a:solidFill>
                <a:latin typeface="Microsoft YaHei"/>
                <a:ea typeface="Microsoft YaHei"/>
              </a:rPr>
              <a:t>1 DoF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2999232"/>
            <a:ext cx="2926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B6F6A"/>
                </a:solidFill>
                <a:latin typeface="Microsoft YaHei"/>
                <a:ea typeface="Microsoft YaHei"/>
              </a:rPr>
              <a:t>开合 / 说话同步(可选)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3675888"/>
            <a:ext cx="5669280" cy="5669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13232" y="3675888"/>
            <a:ext cx="128016" cy="566928"/>
          </a:xfrm>
          <a:prstGeom prst="round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3675888"/>
            <a:ext cx="14630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Microsoft YaHei"/>
                <a:ea typeface="Microsoft YaHei"/>
              </a:rPr>
              <a:t>前肢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3675888"/>
            <a:ext cx="8229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5B8DEF"/>
                </a:solidFill>
                <a:latin typeface="Microsoft YaHei"/>
                <a:ea typeface="Microsoft YaHei"/>
              </a:rPr>
              <a:t>4 DoF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3675888"/>
            <a:ext cx="2926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B6F6A"/>
                </a:solidFill>
                <a:latin typeface="Microsoft YaHei"/>
                <a:ea typeface="Microsoft YaHei"/>
              </a:rPr>
              <a:t>挥手 / 招手 / 作揖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352544"/>
            <a:ext cx="5669280" cy="5669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13232" y="4352544"/>
            <a:ext cx="128016" cy="566928"/>
          </a:xfrm>
          <a:prstGeom prst="roundRect">
            <a:avLst/>
          </a:prstGeom>
          <a:solidFill>
            <a:srgbClr val="9B59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352544"/>
            <a:ext cx="14630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Microsoft YaHei"/>
                <a:ea typeface="Microsoft YaHei"/>
              </a:rPr>
              <a:t>腰·身体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68880" y="4352544"/>
            <a:ext cx="8229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9B59B6"/>
                </a:solidFill>
                <a:latin typeface="Microsoft YaHei"/>
                <a:ea typeface="Microsoft YaHei"/>
              </a:rPr>
              <a:t>1-2 DoF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83280" y="4352544"/>
            <a:ext cx="2926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B6F6A"/>
                </a:solidFill>
                <a:latin typeface="Microsoft YaHei"/>
                <a:ea typeface="Microsoft YaHei"/>
              </a:rPr>
              <a:t>坐起 / 趴下 / 扭身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3232" y="5029200"/>
            <a:ext cx="5669280" cy="5669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13232" y="5029200"/>
            <a:ext cx="128016" cy="566928"/>
          </a:xfrm>
          <a:prstGeom prst="roundRect">
            <a:avLst/>
          </a:prstGeom>
          <a:solidFill>
            <a:srgbClr val="2F6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0120" y="5029200"/>
            <a:ext cx="14630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Microsoft YaHei"/>
                <a:ea typeface="Microsoft YaHei"/>
              </a:rPr>
              <a:t>耳朵·后肢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68880" y="5029200"/>
            <a:ext cx="8229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6B1C"/>
                </a:solidFill>
                <a:latin typeface="Microsoft YaHei"/>
                <a:ea typeface="Microsoft YaHei"/>
              </a:rPr>
              <a:t>2+ DoF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83280" y="5029200"/>
            <a:ext cx="2926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6B6F6A"/>
                </a:solidFill>
                <a:latin typeface="Microsoft YaHei"/>
                <a:ea typeface="Microsoft YaHei"/>
              </a:rPr>
              <a:t>耳朵抖动 / 后肢(选配)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675120" y="1645920"/>
            <a:ext cx="4800600" cy="42519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03720" y="1828800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icrosoft YaHei"/>
                <a:ea typeface="Microsoft YaHei"/>
              </a:rPr>
              <a:t>工程方案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03720" y="2423160"/>
            <a:ext cx="4389120" cy="32918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9CD66B"/>
                </a:solidFill>
                <a:latin typeface="Microsoft YaHei"/>
              </a:rPr>
              <a:t>●  </a:t>
            </a:r>
            <a:r>
              <a:rPr sz="1250" b="1">
                <a:solidFill>
                  <a:srgbClr val="ECEFE8"/>
                </a:solidFill>
                <a:latin typeface="Microsoft YaHei"/>
                <a:ea typeface="Microsoft YaHei"/>
              </a:rPr>
              <a:t>总线舵机(Feetech/STS)</a:t>
            </a:r>
            <a:r>
              <a:rPr sz="1250">
                <a:solidFill>
                  <a:srgbClr val="ECEFE8"/>
                </a:solidFill>
                <a:latin typeface="Microsoft YaHei"/>
                <a:ea typeface="Microsoft YaHei"/>
              </a:rPr>
              <a:t>+控制板,简化布线,可读回位置做闭环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9CD66B"/>
                </a:solidFill>
                <a:latin typeface="Microsoft YaHei"/>
              </a:rPr>
              <a:t>●  </a:t>
            </a:r>
            <a:r>
              <a:rPr sz="1250" b="1">
                <a:solidFill>
                  <a:srgbClr val="ECEFE8"/>
                </a:solidFill>
                <a:latin typeface="Microsoft YaHei"/>
                <a:ea typeface="Microsoft YaHei"/>
              </a:rPr>
              <a:t>零机械裸露</a:t>
            </a:r>
            <a:r>
              <a:rPr sz="1250">
                <a:solidFill>
                  <a:srgbClr val="ECEFE8"/>
                </a:solidFill>
                <a:latin typeface="Microsoft YaHei"/>
                <a:ea typeface="Microsoft YaHei"/>
              </a:rPr>
              <a:t>：内骨骼+海绵+1:1拟真毛绒蒙皮,舵机/线缆/电池全藏于蒙皮内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9CD66B"/>
                </a:solidFill>
                <a:latin typeface="Microsoft YaHei"/>
              </a:rPr>
              <a:t>●  </a:t>
            </a:r>
            <a:r>
              <a:rPr sz="1250" b="1">
                <a:solidFill>
                  <a:srgbClr val="ECEFE8"/>
                </a:solidFill>
                <a:latin typeface="Microsoft YaHei"/>
                <a:ea typeface="Microsoft YaHei"/>
              </a:rPr>
              <a:t>大脑-小脑分层</a:t>
            </a:r>
            <a:r>
              <a:rPr sz="1250">
                <a:solidFill>
                  <a:srgbClr val="ECEFE8"/>
                </a:solidFill>
                <a:latin typeface="Microsoft YaHei"/>
                <a:ea typeface="Microsoft YaHei"/>
              </a:rPr>
              <a:t>：主控下发动作序列, MCU 实时关节控制+安全限位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9CD66B"/>
                </a:solidFill>
                <a:latin typeface="Microsoft YaHei"/>
              </a:rPr>
              <a:t>●  </a:t>
            </a:r>
            <a:r>
              <a:rPr sz="1250" b="1">
                <a:solidFill>
                  <a:srgbClr val="ECEFE8"/>
                </a:solidFill>
                <a:latin typeface="Microsoft YaHei"/>
                <a:ea typeface="Microsoft YaHei"/>
              </a:rPr>
              <a:t>技能动作库</a:t>
            </a:r>
            <a:r>
              <a:rPr sz="1250">
                <a:solidFill>
                  <a:srgbClr val="ECEFE8"/>
                </a:solidFill>
                <a:latin typeface="Microsoft YaHei"/>
                <a:ea typeface="Microsoft YaHei"/>
              </a:rPr>
              <a:t>：招手/作揖/点头/撒娇,由对话与情绪触发;行走为选配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28016" cy="566928"/>
          </a:xfrm>
          <a:prstGeom prst="rect">
            <a:avLst/>
          </a:prstGeom>
          <a:solidFill>
            <a:srgbClr val="4C9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4C9A2A"/>
                </a:solidFill>
                <a:latin typeface="Microsoft YaHei"/>
                <a:ea typeface="Microsoft YaHei"/>
              </a:rPr>
              <a:t>TECH 3/4 · 对话大脑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71323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1A1A"/>
                </a:solidFill>
                <a:latin typeface="Microsoft YaHei"/>
                <a:ea typeface="Microsoft YaHei"/>
              </a:rPr>
              <a:t>端云协同的大模型对话系统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355080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6B6F6A"/>
                </a:solidFill>
                <a:latin typeface="Microsoft YaHei"/>
                <a:ea typeface="Microsoft YaHe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F6A"/>
                </a:solidFill>
                <a:latin typeface="Microsoft YaHei"/>
                <a:ea typeface="Microsoft YaHei"/>
              </a:rPr>
              <a:t>熊猫花花 · HuaHua AI Companion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4630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A1A1A"/>
                </a:solidFill>
                <a:latin typeface="Microsoft YaHei"/>
                <a:ea typeface="Microsoft YaHei"/>
              </a:rPr>
              <a:t>语音交互链路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920240"/>
            <a:ext cx="1572768" cy="868680"/>
          </a:xfrm>
          <a:prstGeom prst="roundRect">
            <a:avLst/>
          </a:prstGeom>
          <a:solidFill>
            <a:srgbClr val="6B6F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920240"/>
            <a:ext cx="157276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icrosoft YaHei"/>
                <a:ea typeface="Microsoft YaHei"/>
              </a:rPr>
              <a:t>拾音</a:t>
            </a:r>
          </a:p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icrosoft YaHei"/>
                <a:ea typeface="Microsoft YaHei"/>
              </a:rPr>
              <a:t>双麦阵列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31136" y="1920240"/>
            <a:ext cx="365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1A1A1A"/>
                </a:solidFill>
                <a:latin typeface="Microsoft YaHei"/>
                <a:ea typeface="Microsoft YaHe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87168" y="1920240"/>
            <a:ext cx="1572768" cy="868680"/>
          </a:xfrm>
          <a:prstGeom prst="roundRect">
            <a:avLst/>
          </a:prstGeom>
          <a:solidFill>
            <a:srgbClr val="4C9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87168" y="1920240"/>
            <a:ext cx="157276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icrosoft YaHei"/>
                <a:ea typeface="Microsoft YaHei"/>
              </a:rPr>
              <a:t>唤醒/VAD</a:t>
            </a:r>
          </a:p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icrosoft YaHei"/>
                <a:ea typeface="Microsoft YaHei"/>
              </a:rPr>
              <a:t>本地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05072" y="1920240"/>
            <a:ext cx="365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1A1A1A"/>
                </a:solidFill>
                <a:latin typeface="Microsoft YaHei"/>
                <a:ea typeface="Microsoft YaHe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61104" y="1920240"/>
            <a:ext cx="1572768" cy="868680"/>
          </a:xfrm>
          <a:prstGeom prst="roundRect">
            <a:avLst/>
          </a:prstGeom>
          <a:solidFill>
            <a:srgbClr val="E8A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61104" y="1920240"/>
            <a:ext cx="157276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1A1A1A"/>
                </a:solidFill>
                <a:latin typeface="Microsoft YaHei"/>
                <a:ea typeface="Microsoft YaHei"/>
              </a:rPr>
              <a:t>ASR</a:t>
            </a:r>
          </a:p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1A1A1A"/>
                </a:solidFill>
                <a:latin typeface="Microsoft YaHei"/>
                <a:ea typeface="Microsoft YaHei"/>
              </a:rPr>
              <a:t>语音转文字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79008" y="1920240"/>
            <a:ext cx="365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1A1A1A"/>
                </a:solidFill>
                <a:latin typeface="Microsoft YaHei"/>
                <a:ea typeface="Microsoft YaHei"/>
              </a:rP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0" y="1920240"/>
            <a:ext cx="1572768" cy="868680"/>
          </a:xfrm>
          <a:prstGeom prst="roundRect">
            <a:avLst/>
          </a:prstGeom>
          <a:solidFill>
            <a:srgbClr val="FF7A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35040" y="1920240"/>
            <a:ext cx="157276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icrosoft YaHei"/>
                <a:ea typeface="Microsoft YaHei"/>
              </a:rPr>
              <a:t>LLM</a:t>
            </a:r>
          </a:p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icrosoft YaHei"/>
                <a:ea typeface="Microsoft YaHei"/>
              </a:rPr>
              <a:t>对话/人设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52944" y="1920240"/>
            <a:ext cx="365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1A1A1A"/>
                </a:solidFill>
                <a:latin typeface="Microsoft YaHei"/>
                <a:ea typeface="Microsoft YaHei"/>
              </a:rPr>
              <a:t>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08976" y="1920240"/>
            <a:ext cx="1572768" cy="868680"/>
          </a:xfrm>
          <a:prstGeom prst="round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08976" y="1920240"/>
            <a:ext cx="157276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icrosoft YaHei"/>
                <a:ea typeface="Microsoft YaHei"/>
              </a:rPr>
              <a:t>TTS</a:t>
            </a:r>
          </a:p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icrosoft YaHei"/>
                <a:ea typeface="Microsoft YaHei"/>
              </a:rPr>
              <a:t>花花音色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1920240"/>
            <a:ext cx="36576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 i="0">
                <a:solidFill>
                  <a:srgbClr val="1A1A1A"/>
                </a:solidFill>
                <a:latin typeface="Microsoft YaHei"/>
                <a:ea typeface="Microsoft YaHei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82912" y="1920240"/>
            <a:ext cx="1572768" cy="868680"/>
          </a:xfrm>
          <a:prstGeom prst="roundRect">
            <a:avLst/>
          </a:prstGeom>
          <a:solidFill>
            <a:srgbClr val="6B6F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82912" y="1920240"/>
            <a:ext cx="1572768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icrosoft YaHei"/>
                <a:ea typeface="Microsoft YaHei"/>
              </a:rPr>
              <a:t>播放</a:t>
            </a:r>
          </a:p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icrosoft YaHei"/>
                <a:ea typeface="Microsoft YaHei"/>
              </a:rPr>
              <a:t>扬声器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3200400"/>
            <a:ext cx="5285232" cy="2743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 Same Side Corner Rectangle 25"/>
          <p:cNvSpPr/>
          <p:nvPr/>
        </p:nvSpPr>
        <p:spPr>
          <a:xfrm>
            <a:off x="713232" y="3200400"/>
            <a:ext cx="5285232" cy="548640"/>
          </a:xfrm>
          <a:prstGeom prst="round2SameRect">
            <a:avLst/>
          </a:prstGeom>
          <a:solidFill>
            <a:srgbClr val="4C9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3255264"/>
            <a:ext cx="4937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</a:rPr>
              <a:t>本地小模型 SLM (端)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3886200"/>
            <a:ext cx="4846320" cy="1920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4C9A2A"/>
                </a:solidFill>
                <a:latin typeface="Microsoft YaHei"/>
              </a:rPr>
              <a:t>●  </a:t>
            </a: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</a:rPr>
              <a:t>唤醒、意图识别、敏感词安全围栏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4C9A2A"/>
                </a:solidFill>
                <a:latin typeface="Microsoft YaHei"/>
              </a:rPr>
              <a:t>●  </a:t>
            </a: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</a:rPr>
              <a:t>隐私敏感数据本地处理(回应行业痛点)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4C9A2A"/>
                </a:solidFill>
                <a:latin typeface="Microsoft YaHei"/>
              </a:rPr>
              <a:t>●  </a:t>
            </a: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</a:rPr>
              <a:t>断网离线兜底, 低延迟即时反应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0488" y="3200400"/>
            <a:ext cx="5285232" cy="2743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 Same Side Corner Rectangle 29"/>
          <p:cNvSpPr/>
          <p:nvPr/>
        </p:nvSpPr>
        <p:spPr>
          <a:xfrm>
            <a:off x="6190488" y="3200400"/>
            <a:ext cx="5285232" cy="548640"/>
          </a:xfrm>
          <a:prstGeom prst="round2SameRect">
            <a:avLst/>
          </a:prstGeom>
          <a:solidFill>
            <a:srgbClr val="E8A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0" y="3255264"/>
            <a:ext cx="49377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1A1A"/>
                </a:solidFill>
                <a:latin typeface="Microsoft YaHei"/>
                <a:ea typeface="Microsoft YaHei"/>
              </a:rPr>
              <a:t>云端大模型 (云)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3886200"/>
            <a:ext cx="4846320" cy="1920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E8A82B"/>
                </a:solidFill>
                <a:latin typeface="Microsoft YaHei"/>
              </a:rPr>
              <a:t>●  </a:t>
            </a: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</a:rPr>
              <a:t>DeepSeek / 豆包 / 通义 / GPT-4o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E8A82B"/>
                </a:solidFill>
                <a:latin typeface="Microsoft YaHei"/>
              </a:rPr>
              <a:t>●  </a:t>
            </a: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</a:rPr>
              <a:t>复杂对话、知识问答、花花人设扮演</a:t>
            </a:r>
          </a:p>
          <a:p>
            <a:pPr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E8A82B"/>
                </a:solidFill>
                <a:latin typeface="Microsoft YaHei"/>
              </a:rPr>
              <a:t>●  </a:t>
            </a: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</a:rPr>
              <a:t>长期记忆向量库 + RAG, 越聊越懂你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28016" cy="566928"/>
          </a:xfrm>
          <a:prstGeom prst="rect">
            <a:avLst/>
          </a:prstGeom>
          <a:solidFill>
            <a:srgbClr val="4C9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4C9A2A"/>
                </a:solidFill>
                <a:latin typeface="Microsoft YaHei"/>
                <a:ea typeface="Microsoft YaHei"/>
              </a:rPr>
              <a:t>TECH 4/4 · 肢体动作与养成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71323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1A1A"/>
                </a:solidFill>
                <a:latin typeface="Microsoft YaHei"/>
                <a:ea typeface="Microsoft YaHei"/>
              </a:rPr>
              <a:t>肢体动作(纯舵机) + 成长系统 (留存核心)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355080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6B6F6A"/>
                </a:solidFill>
                <a:latin typeface="Microsoft YaHei"/>
                <a:ea typeface="Microsoft YaHe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F6A"/>
                </a:solidFill>
                <a:latin typeface="Microsoft YaHei"/>
                <a:ea typeface="Microsoft YaHei"/>
              </a:rPr>
              <a:t>熊猫花花 · HuaHua AI Companion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554480"/>
            <a:ext cx="5285232" cy="1874519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9164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2F6B1C"/>
                </a:solidFill>
                <a:latin typeface="Microsoft YaHei"/>
                <a:ea typeface="Microsoft YaHei"/>
              </a:rPr>
              <a:t>肢体动作 (纯舵机·不用轮子)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48840"/>
            <a:ext cx="4846320" cy="11887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4C9A2A"/>
                </a:solidFill>
                <a:latin typeface="Microsoft YaHei"/>
              </a:rPr>
              <a:t>●  </a:t>
            </a:r>
            <a:r>
              <a:rPr sz="1250" b="1">
                <a:solidFill>
                  <a:srgbClr val="1A1A1A"/>
                </a:solidFill>
                <a:latin typeface="Microsoft YaHei"/>
                <a:ea typeface="Microsoft YaHei"/>
              </a:rPr>
              <a:t>原地动作(一期必做)</a:t>
            </a:r>
            <a:r>
              <a:rPr sz="1250">
                <a:solidFill>
                  <a:srgbClr val="1A1A1A"/>
                </a:solidFill>
                <a:latin typeface="Microsoft YaHei"/>
                <a:ea typeface="Microsoft YaHei"/>
              </a:rPr>
              <a:t>：招手/作揖/点头/坐起/趴下/扭身,零机械裸露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4C9A2A"/>
                </a:solidFill>
                <a:latin typeface="Microsoft YaHei"/>
              </a:rPr>
              <a:t>●  </a:t>
            </a:r>
            <a:r>
              <a:rPr sz="1250" b="1">
                <a:solidFill>
                  <a:srgbClr val="1A1A1A"/>
                </a:solidFill>
                <a:latin typeface="Microsoft YaHei"/>
                <a:ea typeface="Microsoft YaHei"/>
              </a:rPr>
              <a:t>行走(选配)</a:t>
            </a:r>
            <a:r>
              <a:rPr sz="1250">
                <a:solidFill>
                  <a:srgbClr val="1A1A1A"/>
                </a:solidFill>
                <a:latin typeface="Microsoft YaHei"/>
                <a:ea typeface="Microsoft YaHei"/>
              </a:rPr>
              <a:t>：仅腿足式,做不到就放弃,不影响核心体验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0488" y="1554480"/>
            <a:ext cx="5285232" cy="1874519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69164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9CD66B"/>
                </a:solidFill>
                <a:latin typeface="Microsoft YaHei"/>
                <a:ea typeface="Microsoft YaHei"/>
              </a:rPr>
              <a:t>互动—奖励—成长 闭环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2194560"/>
            <a:ext cx="1170432" cy="868680"/>
          </a:xfrm>
          <a:prstGeom prst="roundRect">
            <a:avLst/>
          </a:prstGeom>
          <a:solidFill>
            <a:srgbClr val="2A33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2194560"/>
            <a:ext cx="117043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E7ECE0"/>
                </a:solidFill>
                <a:latin typeface="Microsoft YaHei"/>
                <a:ea typeface="Microsoft YaHei"/>
              </a:rPr>
              <a:t>互动</a:t>
            </a:r>
          </a:p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E7ECE0"/>
                </a:solidFill>
                <a:latin typeface="Microsoft YaHei"/>
                <a:ea typeface="Microsoft YaHei"/>
              </a:rPr>
              <a:t>说话/抚摸/打卡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34656" y="2194560"/>
            <a:ext cx="2743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9CD66B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80960" y="2194560"/>
            <a:ext cx="1170432" cy="868680"/>
          </a:xfrm>
          <a:prstGeom prst="roundRect">
            <a:avLst/>
          </a:prstGeom>
          <a:solidFill>
            <a:srgbClr val="2A33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0" y="2194560"/>
            <a:ext cx="117043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E7ECE0"/>
                </a:solidFill>
                <a:latin typeface="Microsoft YaHei"/>
                <a:ea typeface="Microsoft YaHei"/>
              </a:rPr>
              <a:t>奖励</a:t>
            </a:r>
          </a:p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E7ECE0"/>
                </a:solidFill>
                <a:latin typeface="Microsoft YaHei"/>
                <a:ea typeface="Microsoft YaHei"/>
              </a:rPr>
              <a:t>经验/亲密度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14816" y="2194560"/>
            <a:ext cx="2743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9CD66B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2194560"/>
            <a:ext cx="1170432" cy="868680"/>
          </a:xfrm>
          <a:prstGeom prst="roundRect">
            <a:avLst/>
          </a:prstGeom>
          <a:solidFill>
            <a:srgbClr val="2A33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0" y="2194560"/>
            <a:ext cx="117043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E7ECE0"/>
                </a:solidFill>
                <a:latin typeface="Microsoft YaHei"/>
                <a:ea typeface="Microsoft YaHei"/>
              </a:rPr>
              <a:t>解锁</a:t>
            </a:r>
          </a:p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E7ECE0"/>
                </a:solidFill>
                <a:latin typeface="Microsoft YaHei"/>
                <a:ea typeface="Microsoft YaHei"/>
              </a:rPr>
              <a:t>动作/对话/表情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94976" y="2194560"/>
            <a:ext cx="2743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9CD66B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41280" y="2194560"/>
            <a:ext cx="1170432" cy="868680"/>
          </a:xfrm>
          <a:prstGeom prst="roundRect">
            <a:avLst/>
          </a:prstGeom>
          <a:solidFill>
            <a:srgbClr val="2A33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41280" y="2194560"/>
            <a:ext cx="1170432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E7ECE0"/>
                </a:solidFill>
                <a:latin typeface="Microsoft YaHei"/>
                <a:ea typeface="Microsoft YaHei"/>
              </a:rPr>
              <a:t>性格</a:t>
            </a:r>
          </a:p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E7ECE0"/>
                </a:solidFill>
                <a:latin typeface="Microsoft YaHei"/>
                <a:ea typeface="Microsoft YaHei"/>
              </a:rPr>
              <a:t>专属花花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36576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1A1A1A"/>
                </a:solidFill>
                <a:latin typeface="Microsoft YaHei"/>
                <a:ea typeface="Microsoft YaHei"/>
              </a:rPr>
              <a:t>养成系统设计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114800"/>
            <a:ext cx="10515600" cy="2103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400" b="1">
                <a:solidFill>
                  <a:srgbClr val="4C9A2A"/>
                </a:solidFill>
                <a:latin typeface="Microsoft YaHei"/>
              </a:rPr>
              <a:t>●  </a:t>
            </a:r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状态维度</a:t>
            </a:r>
            <a:r>
              <a:rPr sz="1400">
                <a:solidFill>
                  <a:srgbClr val="1A1A1A"/>
                </a:solidFill>
                <a:latin typeface="Microsoft YaHei"/>
                <a:ea typeface="Microsoft YaHei"/>
              </a:rPr>
              <a:t>：心情 / 活力 / 亲密度 / 技能等级 / 成长阶段(幼年→少年→成年)</a:t>
            </a:r>
          </a:p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400" b="1">
                <a:solidFill>
                  <a:srgbClr val="4C9A2A"/>
                </a:solidFill>
                <a:latin typeface="Microsoft YaHei"/>
              </a:rPr>
              <a:t>●  </a:t>
            </a:r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性格塑造</a:t>
            </a:r>
            <a:r>
              <a:rPr sz="1400">
                <a:solidFill>
                  <a:srgbClr val="1A1A1A"/>
                </a:solidFill>
                <a:latin typeface="Microsoft YaHei"/>
                <a:ea typeface="Microsoft YaHei"/>
              </a:rPr>
              <a:t>：长期互动数据驱动性格参数(外向/黏人…), 对标 Moflin 情感画像与 Ropet 养成(已被市场验证)</a:t>
            </a:r>
          </a:p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400" b="1">
                <a:solidFill>
                  <a:srgbClr val="4C9A2A"/>
                </a:solidFill>
                <a:latin typeface="Microsoft YaHei"/>
              </a:rPr>
              <a:t>●  </a:t>
            </a:r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「自己的思维」</a:t>
            </a:r>
            <a:r>
              <a:rPr sz="1400">
                <a:solidFill>
                  <a:srgbClr val="1A1A1A"/>
                </a:solidFill>
                <a:latin typeface="Microsoft YaHei"/>
                <a:ea typeface="Microsoft YaHei"/>
              </a:rPr>
              <a:t>：长期记忆 + 定期反思总结共同经历 → 主动发起对话(“今天怎么没理我”), 营造有想法的伙伴感</a:t>
            </a:r>
          </a:p>
          <a:p>
            <a:pPr>
              <a:lnSpc>
                <a:spcPct val="130000"/>
              </a:lnSpc>
              <a:spcAft>
                <a:spcPts val="400"/>
              </a:spcAft>
            </a:pPr>
            <a:r>
              <a:rPr sz="1400" b="1">
                <a:solidFill>
                  <a:srgbClr val="4C9A2A"/>
                </a:solidFill>
                <a:latin typeface="Microsoft YaHei"/>
              </a:rPr>
              <a:t>●  </a:t>
            </a:r>
            <a:r>
              <a:rPr sz="1400" b="1">
                <a:solidFill>
                  <a:srgbClr val="1A1A1A"/>
                </a:solidFill>
                <a:latin typeface="Microsoft YaHei"/>
                <a:ea typeface="Microsoft YaHei"/>
              </a:rPr>
              <a:t>App 配套</a:t>
            </a:r>
            <a:r>
              <a:rPr sz="1400">
                <a:solidFill>
                  <a:srgbClr val="1A1A1A"/>
                </a:solidFill>
                <a:latin typeface="Microsoft YaHei"/>
                <a:ea typeface="Microsoft YaHei"/>
              </a:rPr>
              <a:t>：成长曲线 / 性格雷达 / 回忆相册 / 任务打卡 / 固件 OTA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D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9CD66B"/>
                </a:solidFill>
                <a:latin typeface="Microsoft YaHei"/>
                <a:ea typeface="Microsoft YaHei"/>
              </a:rPr>
              <a:t>ARCHITECTURE · 系统架构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229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</a:rPr>
              <a:t>大脑—小脑—感知 分层架构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691640"/>
            <a:ext cx="9966960" cy="868680"/>
          </a:xfrm>
          <a:prstGeom prst="roundRect">
            <a:avLst/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783080"/>
            <a:ext cx="9601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9FC2FF"/>
                </a:solidFill>
                <a:latin typeface="Microsoft YaHei"/>
                <a:ea typeface="Microsoft YaHei"/>
              </a:rPr>
              <a:t>☁  云端 Cloud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084831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D7E2F7"/>
                </a:solidFill>
                <a:latin typeface="Microsoft YaHei"/>
                <a:ea typeface="Microsoft YaHei"/>
              </a:rPr>
              <a:t>大模型(DeepSeek/豆包/GPT-4o) · ASR/TTS · 长期记忆向量库 · OTA · 成长后台 · 内容安全审核 · 数据合规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0" y="2578608"/>
            <a:ext cx="914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9CD66B"/>
                </a:solidFill>
                <a:latin typeface="Microsoft YaHei"/>
                <a:ea typeface="Microsoft YaHei"/>
              </a:rPr>
              <a:t>↕ Wi-Fi 加密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2971800"/>
            <a:ext cx="9966960" cy="1143000"/>
          </a:xfrm>
          <a:prstGeom prst="roundRect">
            <a:avLst/>
          </a:prstGeom>
          <a:solidFill>
            <a:srgbClr val="2F4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3044952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BFE89A"/>
                </a:solidFill>
                <a:latin typeface="Microsoft YaHei"/>
                <a:ea typeface="Microsoft YaHei"/>
              </a:rPr>
              <a:t>🧠  主控大脑  RK3588 类 · 6 TOPS NPU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3401568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DDEACF"/>
                </a:solidFill>
                <a:latin typeface="Microsoft YaHei"/>
                <a:ea typeface="Microsoft YaHei"/>
              </a:rPr>
              <a:t>本地小模型 SLM · 唤醒/VAD · 视觉(人脸/表情/手势) · 安全围栏 · 情感引擎 · 成长状态机 · 行为编排/技能库 · 端云路由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4526280"/>
            <a:ext cx="4892040" cy="1417320"/>
          </a:xfrm>
          <a:prstGeom prst="roundRect">
            <a:avLst/>
          </a:prstGeom>
          <a:solidFill>
            <a:srgbClr val="4033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459943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2C98A"/>
                </a:solidFill>
                <a:latin typeface="Microsoft YaHei"/>
                <a:ea typeface="Microsoft YaHei"/>
              </a:rPr>
              <a:t>⚙  运动 MCU  STM32/ESP32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4956048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EFDCBC"/>
                </a:solidFill>
                <a:latin typeface="Microsoft YaHei"/>
                <a:ea typeface="Microsoft YaHei"/>
              </a:rPr>
              <a:t>眼球6舵机 · 头2 · 嘴1 · 前肢4 · 腰1-2 · 耳2 · (后肢选配) · 总线舵机闭环+安全限位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526280"/>
            <a:ext cx="4892040" cy="1417320"/>
          </a:xfrm>
          <a:prstGeom prst="roundRect">
            <a:avLst/>
          </a:prstGeom>
          <a:solidFill>
            <a:srgbClr val="3A2E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4599432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D8C2F0"/>
                </a:solidFill>
                <a:latin typeface="Microsoft YaHei"/>
                <a:ea typeface="Microsoft YaHei"/>
              </a:rPr>
              <a:t>👁  传感层 Sensors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4956048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E4D8F2"/>
                </a:solidFill>
                <a:latin typeface="Microsoft YaHei"/>
                <a:ea typeface="Microsoft YaHei"/>
              </a:rPr>
              <a:t>RGB-D摄像头 · 双麦阵列 · 触摸 · IMU(被抱/跌落) · 光线/温度(可选)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6126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9CD66B"/>
                </a:solidFill>
                <a:latin typeface="Microsoft YaHei"/>
                <a:ea typeface="Microsoft YaHei"/>
              </a:rPr>
              <a:t>全身无机械裸露：1:1拟真毛绒蒙皮(可抱) + 内骨骼(可动) + 锂电 + 无线充电底座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28016" cy="566928"/>
          </a:xfrm>
          <a:prstGeom prst="rect">
            <a:avLst/>
          </a:prstGeom>
          <a:solidFill>
            <a:srgbClr val="4C9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4C9A2A"/>
                </a:solidFill>
                <a:latin typeface="Microsoft YaHei"/>
                <a:ea typeface="Microsoft YaHei"/>
              </a:rPr>
              <a:t>COST · 成本结构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71323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1A1A"/>
                </a:solidFill>
                <a:latin typeface="Microsoft YaHei"/>
                <a:ea typeface="Microsoft YaHei"/>
              </a:rPr>
              <a:t>整机 BOM 成本估算与定价 (量产参考)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355080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6B6F6A"/>
                </a:solidFill>
                <a:latin typeface="Microsoft YaHei"/>
                <a:ea typeface="Microsoft YaHe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F6A"/>
                </a:solidFill>
                <a:latin typeface="Microsoft YaHei"/>
                <a:ea typeface="Microsoft YaHei"/>
              </a:rPr>
              <a:t>熊猫花花 · HuaHua AI Companion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600200"/>
            <a:ext cx="3566160" cy="43891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600200"/>
            <a:ext cx="246888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A1A1A"/>
                </a:solidFill>
                <a:latin typeface="Microsoft YaHei"/>
                <a:ea typeface="Microsoft YaHei"/>
              </a:rPr>
              <a:t>主控 SoC (RK3588S类)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19272" y="1600200"/>
            <a:ext cx="9144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2F6B1C"/>
                </a:solidFill>
                <a:latin typeface="Microsoft YaHei"/>
                <a:ea typeface="Microsoft YaHei"/>
              </a:rPr>
              <a:t>¥220–400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112264"/>
            <a:ext cx="3566160" cy="438912"/>
          </a:xfrm>
          <a:prstGeom prst="roundRect">
            <a:avLst/>
          </a:prstGeom>
          <a:solidFill>
            <a:srgbClr val="E9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12264"/>
            <a:ext cx="246888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A1A1A"/>
                </a:solidFill>
                <a:latin typeface="Microsoft YaHei"/>
                <a:ea typeface="Microsoft YaHei"/>
              </a:rPr>
              <a:t>运动 MCU + 舵机驱动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9272" y="2112264"/>
            <a:ext cx="9144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2F6B1C"/>
                </a:solidFill>
                <a:latin typeface="Microsoft YaHei"/>
                <a:ea typeface="Microsoft YaHei"/>
              </a:rPr>
              <a:t>¥25–50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" y="2624328"/>
            <a:ext cx="3566160" cy="43891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2624328"/>
            <a:ext cx="246888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A1A1A"/>
                </a:solidFill>
                <a:latin typeface="Microsoft YaHei"/>
                <a:ea typeface="Microsoft YaHei"/>
              </a:rPr>
              <a:t>仿生眼模组(6舵机+机构)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19272" y="2624328"/>
            <a:ext cx="9144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2F6B1C"/>
                </a:solidFill>
                <a:latin typeface="Microsoft YaHei"/>
                <a:ea typeface="Microsoft YaHei"/>
              </a:rPr>
              <a:t>¥60–120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136392"/>
            <a:ext cx="3566160" cy="438912"/>
          </a:xfrm>
          <a:prstGeom prst="roundRect">
            <a:avLst/>
          </a:prstGeom>
          <a:solidFill>
            <a:srgbClr val="E9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3136392"/>
            <a:ext cx="246888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A1A1A"/>
                </a:solidFill>
                <a:latin typeface="Microsoft YaHei"/>
                <a:ea typeface="Microsoft YaHei"/>
              </a:rPr>
              <a:t>头/前肢/腰/耳舵机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19272" y="3136392"/>
            <a:ext cx="9144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2F6B1C"/>
                </a:solidFill>
                <a:latin typeface="Microsoft YaHei"/>
                <a:ea typeface="Microsoft YaHei"/>
              </a:rPr>
              <a:t>¥110–210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3648456"/>
            <a:ext cx="3566160" cy="43891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3648456"/>
            <a:ext cx="246888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A1A1A"/>
                </a:solidFill>
                <a:latin typeface="Microsoft YaHei"/>
                <a:ea typeface="Microsoft YaHei"/>
              </a:rPr>
              <a:t>后肢步态舵机(选配)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19272" y="3648456"/>
            <a:ext cx="9144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2F6B1C"/>
                </a:solidFill>
                <a:latin typeface="Microsoft YaHei"/>
                <a:ea typeface="Microsoft YaHei"/>
              </a:rPr>
              <a:t>¥0–120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160520"/>
            <a:ext cx="3566160" cy="438912"/>
          </a:xfrm>
          <a:prstGeom prst="roundRect">
            <a:avLst/>
          </a:prstGeom>
          <a:solidFill>
            <a:srgbClr val="E9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4160520"/>
            <a:ext cx="246888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A1A1A"/>
                </a:solidFill>
                <a:latin typeface="Microsoft YaHei"/>
                <a:ea typeface="Microsoft YaHei"/>
              </a:rPr>
              <a:t>摄像头(RGB/RGB-D)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19272" y="4160520"/>
            <a:ext cx="9144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2F6B1C"/>
                </a:solidFill>
                <a:latin typeface="Microsoft YaHei"/>
                <a:ea typeface="Microsoft YaHei"/>
              </a:rPr>
              <a:t>¥25–90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62271" y="1600200"/>
            <a:ext cx="3566160" cy="43891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1" y="1600200"/>
            <a:ext cx="246888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A1A1A"/>
                </a:solidFill>
                <a:latin typeface="Microsoft YaHei"/>
                <a:ea typeface="Microsoft YaHei"/>
              </a:rPr>
              <a:t>音频(双麦+功放+扬声器)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68311" y="1600200"/>
            <a:ext cx="9144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2F6B1C"/>
                </a:solidFill>
                <a:latin typeface="Microsoft YaHei"/>
                <a:ea typeface="Microsoft YaHei"/>
              </a:rPr>
              <a:t>¥25–55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62271" y="2112264"/>
            <a:ext cx="3566160" cy="438912"/>
          </a:xfrm>
          <a:prstGeom prst="roundRect">
            <a:avLst/>
          </a:prstGeom>
          <a:solidFill>
            <a:srgbClr val="E9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45151" y="2112264"/>
            <a:ext cx="246888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A1A1A"/>
                </a:solidFill>
                <a:latin typeface="Microsoft YaHei"/>
                <a:ea typeface="Microsoft YaHei"/>
              </a:rPr>
              <a:t>传感器(触摸/IMU/光线)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68311" y="2112264"/>
            <a:ext cx="9144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2F6B1C"/>
                </a:solidFill>
                <a:latin typeface="Microsoft YaHei"/>
                <a:ea typeface="Microsoft YaHei"/>
              </a:rPr>
              <a:t>¥30–70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62271" y="2624328"/>
            <a:ext cx="3566160" cy="43891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45151" y="2624328"/>
            <a:ext cx="246888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A1A1A"/>
                </a:solidFill>
                <a:latin typeface="Microsoft YaHei"/>
                <a:ea typeface="Microsoft YaHei"/>
              </a:rPr>
              <a:t>电池/电源/无线充底座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68311" y="2624328"/>
            <a:ext cx="9144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2F6B1C"/>
                </a:solidFill>
                <a:latin typeface="Microsoft YaHei"/>
                <a:ea typeface="Microsoft YaHei"/>
              </a:rPr>
              <a:t>¥50–110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62271" y="3136392"/>
            <a:ext cx="3566160" cy="438912"/>
          </a:xfrm>
          <a:prstGeom prst="roundRect">
            <a:avLst/>
          </a:prstGeom>
          <a:solidFill>
            <a:srgbClr val="E9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45151" y="3136392"/>
            <a:ext cx="246888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A1A1A"/>
                </a:solidFill>
                <a:latin typeface="Microsoft YaHei"/>
                <a:ea typeface="Microsoft YaHei"/>
              </a:rPr>
              <a:t>结构(内骨骼+海绵+拟真毛绒)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68311" y="3136392"/>
            <a:ext cx="9144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2F6B1C"/>
                </a:solidFill>
                <a:latin typeface="Microsoft YaHei"/>
                <a:ea typeface="Microsoft YaHei"/>
              </a:rPr>
              <a:t>¥100–200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62271" y="3648456"/>
            <a:ext cx="3566160" cy="43891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45151" y="3648456"/>
            <a:ext cx="246888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1A1A1A"/>
                </a:solidFill>
                <a:latin typeface="Microsoft YaHei"/>
                <a:ea typeface="Microsoft YaHei"/>
              </a:rPr>
              <a:t>PCB/线材/包装等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68311" y="3648456"/>
            <a:ext cx="9144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2F6B1C"/>
                </a:solidFill>
                <a:latin typeface="Microsoft YaHei"/>
                <a:ea typeface="Microsoft YaHei"/>
              </a:rPr>
              <a:t>¥40–80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0" y="1600200"/>
            <a:ext cx="3246120" cy="306324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12480" y="182880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9CD66B"/>
                </a:solidFill>
                <a:latin typeface="Microsoft YaHei"/>
                <a:ea typeface="Microsoft YaHei"/>
              </a:rPr>
              <a:t>整机料本合计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12480" y="2331720"/>
            <a:ext cx="29260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Microsoft YaHei"/>
                <a:ea typeface="Microsoft YaHei"/>
              </a:rPr>
              <a:t>¥685–1505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0" y="315468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C9CEC2"/>
                </a:solidFill>
                <a:latin typeface="Microsoft YaHei"/>
                <a:ea typeface="Microsoft YaHei"/>
              </a:rPr>
              <a:t>建议零售价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12480" y="3520440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E8A82B"/>
                </a:solidFill>
                <a:latin typeface="Microsoft YaHei"/>
                <a:ea typeface="Microsoft YaHei"/>
              </a:rPr>
              <a:t>¥1499–2499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12480" y="420624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9CEC2"/>
                </a:solidFill>
                <a:latin typeface="Microsoft YaHei"/>
                <a:ea typeface="Microsoft YaHei"/>
              </a:rPr>
              <a:t>目标毛利率 50%+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3232" y="49377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A1A1A"/>
                </a:solidFill>
                <a:latin typeface="Microsoft YaHei"/>
                <a:ea typeface="Microsoft YaHei"/>
              </a:rPr>
              <a:t>降本路径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" y="5349240"/>
            <a:ext cx="10515600" cy="1097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25000"/>
              </a:lnSpc>
              <a:spcAft>
                <a:spcPts val="400"/>
              </a:spcAft>
            </a:pPr>
            <a:r>
              <a:rPr sz="1300" b="1">
                <a:solidFill>
                  <a:srgbClr val="4C9A2A"/>
                </a:solidFill>
                <a:latin typeface="Microsoft YaHei"/>
              </a:rPr>
              <a:t>●  </a:t>
            </a:r>
            <a:r>
              <a:rPr sz="1300" b="0">
                <a:solidFill>
                  <a:srgbClr val="1A1A1A"/>
                </a:solidFill>
                <a:latin typeface="Microsoft YaHei"/>
                <a:ea typeface="Microsoft YaHei"/>
              </a:rPr>
              <a:t>眼模组舵机国产化 · 砍掉后肢/行走(外形不受影响) · 主控按需选4GB版 · 规模化集采议价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3232" y="635508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B6F6A"/>
                </a:solidFill>
                <a:latin typeface="Microsoft YaHei"/>
                <a:ea typeface="Microsoft YaHei"/>
              </a:rPr>
              <a:t>注：千台级量产粗估区间, 最终以选型采购为准。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28016" cy="566928"/>
          </a:xfrm>
          <a:prstGeom prst="rect">
            <a:avLst/>
          </a:prstGeom>
          <a:solidFill>
            <a:srgbClr val="4C9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4C9A2A"/>
                </a:solidFill>
                <a:latin typeface="Microsoft YaHei"/>
                <a:ea typeface="Microsoft YaHei"/>
              </a:rPr>
              <a:t>RISK · 安全与合规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71323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1A1A"/>
                </a:solidFill>
                <a:latin typeface="Microsoft YaHei"/>
                <a:ea typeface="Microsoft YaHei"/>
              </a:rPr>
              <a:t>前置安全合规：把行业痛点变成加分项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355080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6B6F6A"/>
                </a:solidFill>
                <a:latin typeface="Microsoft YaHei"/>
                <a:ea typeface="Microsoft YaHe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F6A"/>
                </a:solidFill>
                <a:latin typeface="Microsoft YaHei"/>
                <a:ea typeface="Microsoft YaHei"/>
              </a:rPr>
              <a:t>熊猫花花 · HuaHua AI Companion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600200"/>
            <a:ext cx="10762488" cy="98755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1600200"/>
            <a:ext cx="146304" cy="987552"/>
          </a:xfrm>
          <a:prstGeom prst="roundRect">
            <a:avLst/>
          </a:prstGeom>
          <a:solidFill>
            <a:srgbClr val="4C9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09928"/>
            <a:ext cx="1920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4C9A2A"/>
                </a:solidFill>
                <a:latin typeface="Microsoft YaHei"/>
                <a:ea typeface="Microsoft YaHei"/>
              </a:rPr>
              <a:t>隐私与数据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1728216"/>
            <a:ext cx="36576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6B6F6A"/>
                </a:solidFill>
                <a:latin typeface="Microsoft YaHei"/>
                <a:ea typeface="Microsoft YaHei"/>
              </a:rPr>
              <a:t>痛点：部分AI玩具被曝持续录音、第三方转写、采集儿童数据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728216"/>
            <a:ext cx="45720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A1A1A"/>
                </a:solidFill>
                <a:latin typeface="Microsoft YaHei"/>
                <a:ea typeface="Microsoft YaHei"/>
              </a:rPr>
              <a:t>对策：本地SLM优先 · 物理静音键 · 录音指示灯 · 数据可一键删除/重置 · 遵循COPPA/儿童信息保护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715768"/>
            <a:ext cx="10762488" cy="98755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13232" y="2715768"/>
            <a:ext cx="146304" cy="987552"/>
          </a:xfrm>
          <a:prstGeom prst="roundRect">
            <a:avLst/>
          </a:prstGeom>
          <a:solidFill>
            <a:srgbClr val="E8A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825496"/>
            <a:ext cx="1920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B58210"/>
                </a:solidFill>
                <a:latin typeface="Microsoft YaHei"/>
                <a:ea typeface="Microsoft YaHei"/>
              </a:rPr>
              <a:t>内容安全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843784"/>
            <a:ext cx="36576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6B6F6A"/>
                </a:solidFill>
                <a:latin typeface="Microsoft YaHei"/>
                <a:ea typeface="Microsoft YaHei"/>
              </a:rPr>
              <a:t>痛点：有报告显示部分AI玩具会生成不当内容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843784"/>
            <a:ext cx="45720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A1A1A"/>
                </a:solidFill>
                <a:latin typeface="Microsoft YaHei"/>
                <a:ea typeface="Microsoft YaHei"/>
              </a:rPr>
              <a:t>对策：本地敏感词+云端审核+年龄分级人设 · 儿童模式白名单 · 家长后台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3831336"/>
            <a:ext cx="10762488" cy="98755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13232" y="3831336"/>
            <a:ext cx="146304" cy="987552"/>
          </a:xfrm>
          <a:prstGeom prst="roundRect">
            <a:avLst/>
          </a:prstGeom>
          <a:solidFill>
            <a:srgbClr val="FF7A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941064"/>
            <a:ext cx="1920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FF7A93"/>
                </a:solidFill>
                <a:latin typeface="Microsoft YaHei"/>
                <a:ea typeface="Microsoft YaHei"/>
              </a:rPr>
              <a:t>物理安全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3959352"/>
            <a:ext cx="36576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6B6F6A"/>
                </a:solidFill>
                <a:latin typeface="Microsoft YaHei"/>
                <a:ea typeface="Microsoft YaHei"/>
              </a:rPr>
              <a:t>痛点：小零件/夹手/电池风险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3959352"/>
            <a:ext cx="45720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A1A1A"/>
                </a:solidFill>
                <a:latin typeface="Microsoft YaHei"/>
                <a:ea typeface="Microsoft YaHei"/>
              </a:rPr>
              <a:t>对策：通过 3C/CE/EN71 玩具认证 · 舵机限位 · 过流保护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946904"/>
            <a:ext cx="10762488" cy="98755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13232" y="4946904"/>
            <a:ext cx="146304" cy="987552"/>
          </a:xfrm>
          <a:prstGeom prst="round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5056632"/>
            <a:ext cx="19202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5B8DEF"/>
                </a:solidFill>
                <a:latin typeface="Microsoft YaHei"/>
                <a:ea typeface="Microsoft YaHei"/>
              </a:rPr>
              <a:t>IP 合规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520" y="5074920"/>
            <a:ext cx="36576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6B6F6A"/>
                </a:solidFill>
                <a:latin typeface="Microsoft YaHei"/>
                <a:ea typeface="Microsoft YaHei"/>
              </a:rPr>
              <a:t>痛点：IP授权范围需清晰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5074920"/>
            <a:ext cx="457200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A1A1A"/>
                </a:solidFill>
                <a:latin typeface="Microsoft YaHei"/>
                <a:ea typeface="Microsoft YaHei"/>
              </a:rPr>
              <a:t>对策：明确花花IP授权(形象/名称/声音/区域/期限)可商用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9CD66B"/>
                </a:solidFill>
                <a:latin typeface="Microsoft YaHei"/>
                <a:ea typeface="Microsoft YaHei"/>
              </a:rPr>
              <a:t>ROADMAP · 研发路线图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Microsoft YaHei"/>
                <a:ea typeface="Microsoft YaHei"/>
              </a:rPr>
              <a:t>15 个月：从概念验证到量产上市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331720"/>
            <a:ext cx="10332720" cy="54864"/>
          </a:xfrm>
          <a:prstGeom prst="rect">
            <a:avLst/>
          </a:prstGeom>
          <a:solidFill>
            <a:srgbClr val="4C9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2148840"/>
            <a:ext cx="420624" cy="420624"/>
          </a:xfrm>
          <a:prstGeom prst="ellipse">
            <a:avLst/>
          </a:prstGeom>
          <a:solidFill>
            <a:srgbClr val="FF7A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</a:rPr>
              <a:t>P0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926080"/>
            <a:ext cx="1874519" cy="2377440"/>
          </a:xfrm>
          <a:prstGeom prst="roundRect">
            <a:avLst/>
          </a:prstGeom>
          <a:solidFill>
            <a:srgbClr val="24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2926080"/>
            <a:ext cx="1874519" cy="91440"/>
          </a:xfrm>
          <a:prstGeom prst="roundRect">
            <a:avLst/>
          </a:prstGeom>
          <a:solidFill>
            <a:srgbClr val="FF7A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10896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7A93"/>
                </a:solidFill>
                <a:latin typeface="Microsoft YaHei"/>
                <a:ea typeface="Microsoft YaHei"/>
              </a:rPr>
              <a:t>0–2 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493008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</a:rPr>
              <a:t>概念验证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005072"/>
            <a:ext cx="1645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D3D8CD"/>
                </a:solidFill>
                <a:latin typeface="Microsoft YaHei"/>
                <a:ea typeface="Microsoft YaHei"/>
              </a:rPr>
              <a:t>仿生眼Demo+端云对话+花花外观手板</a:t>
            </a:r>
          </a:p>
        </p:txBody>
      </p:sp>
      <p:sp>
        <p:nvSpPr>
          <p:cNvPr id="12" name="Oval 11"/>
          <p:cNvSpPr/>
          <p:nvPr/>
        </p:nvSpPr>
        <p:spPr>
          <a:xfrm>
            <a:off x="3035808" y="2148840"/>
            <a:ext cx="420624" cy="420624"/>
          </a:xfrm>
          <a:prstGeom prst="ellipse">
            <a:avLst/>
          </a:prstGeom>
          <a:solidFill>
            <a:srgbClr val="E8A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35808" y="214884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</a:rPr>
              <a:t>P1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52928" y="2926080"/>
            <a:ext cx="1874519" cy="2377440"/>
          </a:xfrm>
          <a:prstGeom prst="roundRect">
            <a:avLst/>
          </a:prstGeom>
          <a:solidFill>
            <a:srgbClr val="24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852928" y="2926080"/>
            <a:ext cx="1874519" cy="91440"/>
          </a:xfrm>
          <a:prstGeom prst="roundRect">
            <a:avLst/>
          </a:prstGeom>
          <a:solidFill>
            <a:srgbClr val="E8A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90088" y="310896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E8A82B"/>
                </a:solidFill>
                <a:latin typeface="Microsoft YaHei"/>
                <a:ea typeface="Microsoft YaHei"/>
              </a:rPr>
              <a:t>2–5 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0088" y="3493008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</a:rPr>
              <a:t>工程样机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0088" y="4005072"/>
            <a:ext cx="1645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D3D8CD"/>
                </a:solidFill>
                <a:latin typeface="Microsoft YaHei"/>
                <a:ea typeface="Microsoft YaHei"/>
              </a:rPr>
              <a:t>拟真整机(全毛绒/零裸露)+肢体动作库+成长App v0.1</a:t>
            </a:r>
          </a:p>
        </p:txBody>
      </p:sp>
      <p:sp>
        <p:nvSpPr>
          <p:cNvPr id="19" name="Oval 18"/>
          <p:cNvSpPr/>
          <p:nvPr/>
        </p:nvSpPr>
        <p:spPr>
          <a:xfrm>
            <a:off x="5157216" y="2148840"/>
            <a:ext cx="420624" cy="420624"/>
          </a:xfrm>
          <a:prstGeom prst="ellipse">
            <a:avLst/>
          </a:prstGeom>
          <a:solidFill>
            <a:srgbClr val="4C9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57216" y="214884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</a:rPr>
              <a:t>P2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74336" y="2926080"/>
            <a:ext cx="1874519" cy="2377440"/>
          </a:xfrm>
          <a:prstGeom prst="roundRect">
            <a:avLst/>
          </a:prstGeom>
          <a:solidFill>
            <a:srgbClr val="24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974336" y="2926080"/>
            <a:ext cx="1874519" cy="91440"/>
          </a:xfrm>
          <a:prstGeom prst="roundRect">
            <a:avLst/>
          </a:prstGeom>
          <a:solidFill>
            <a:srgbClr val="4C9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11496" y="310896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4C9A2A"/>
                </a:solidFill>
                <a:latin typeface="Microsoft YaHei"/>
                <a:ea typeface="Microsoft YaHei"/>
              </a:rPr>
              <a:t>5–9 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11496" y="3493008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</a:rPr>
              <a:t>设计验证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11496" y="4005072"/>
            <a:ext cx="1645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D3D8CD"/>
                </a:solidFill>
                <a:latin typeface="Microsoft YaHei"/>
                <a:ea typeface="Microsoft YaHei"/>
              </a:rPr>
              <a:t>静音眼模组+续航达标+安全合规预测试</a:t>
            </a:r>
          </a:p>
        </p:txBody>
      </p:sp>
      <p:sp>
        <p:nvSpPr>
          <p:cNvPr id="26" name="Oval 25"/>
          <p:cNvSpPr/>
          <p:nvPr/>
        </p:nvSpPr>
        <p:spPr>
          <a:xfrm>
            <a:off x="7278624" y="2148840"/>
            <a:ext cx="420624" cy="420624"/>
          </a:xfrm>
          <a:prstGeom prst="ellipse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78624" y="214884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</a:rPr>
              <a:t>P3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095744" y="2926080"/>
            <a:ext cx="1874519" cy="2377440"/>
          </a:xfrm>
          <a:prstGeom prst="roundRect">
            <a:avLst/>
          </a:prstGeom>
          <a:solidFill>
            <a:srgbClr val="24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095744" y="2926080"/>
            <a:ext cx="1874519" cy="91440"/>
          </a:xfrm>
          <a:prstGeom prst="round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32904" y="310896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5B8DEF"/>
                </a:solidFill>
                <a:latin typeface="Microsoft YaHei"/>
                <a:ea typeface="Microsoft YaHei"/>
              </a:rPr>
              <a:t>9–12 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32904" y="3493008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</a:rPr>
              <a:t>量产验证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32904" y="4005072"/>
            <a:ext cx="1645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D3D8CD"/>
                </a:solidFill>
                <a:latin typeface="Microsoft YaHei"/>
                <a:ea typeface="Microsoft YaHei"/>
              </a:rPr>
              <a:t>产线导入+良率爬坡+认证(3C/CE/EN71)</a:t>
            </a:r>
          </a:p>
        </p:txBody>
      </p:sp>
      <p:sp>
        <p:nvSpPr>
          <p:cNvPr id="33" name="Oval 32"/>
          <p:cNvSpPr/>
          <p:nvPr/>
        </p:nvSpPr>
        <p:spPr>
          <a:xfrm>
            <a:off x="9400032" y="2148840"/>
            <a:ext cx="420624" cy="420624"/>
          </a:xfrm>
          <a:prstGeom prst="ellipse">
            <a:avLst/>
          </a:prstGeom>
          <a:solidFill>
            <a:srgbClr val="9B59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00032" y="2148840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</a:rPr>
              <a:t>P4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217152" y="2926080"/>
            <a:ext cx="1874519" cy="2377440"/>
          </a:xfrm>
          <a:prstGeom prst="roundRect">
            <a:avLst/>
          </a:prstGeom>
          <a:solidFill>
            <a:srgbClr val="242C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217152" y="2926080"/>
            <a:ext cx="1874519" cy="91440"/>
          </a:xfrm>
          <a:prstGeom prst="roundRect">
            <a:avLst/>
          </a:prstGeom>
          <a:solidFill>
            <a:srgbClr val="9B59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54312" y="3108960"/>
            <a:ext cx="1645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9B59B6"/>
                </a:solidFill>
                <a:latin typeface="Microsoft YaHei"/>
                <a:ea typeface="Microsoft YaHei"/>
              </a:rPr>
              <a:t>12–15 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54312" y="3493008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Microsoft YaHei"/>
                <a:ea typeface="Microsoft YaHei"/>
              </a:rPr>
              <a:t>量产上市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54312" y="4005072"/>
            <a:ext cx="16459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D3D8CD"/>
                </a:solidFill>
                <a:latin typeface="Microsoft YaHei"/>
                <a:ea typeface="Microsoft YaHei"/>
              </a:rPr>
              <a:t>首批量产+众筹预售+IP联合营销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02920"/>
            <a:ext cx="128016" cy="566928"/>
          </a:xfrm>
          <a:prstGeom prst="rect">
            <a:avLst/>
          </a:prstGeom>
          <a:solidFill>
            <a:srgbClr val="4C9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4C9A2A"/>
                </a:solidFill>
                <a:latin typeface="Microsoft YaHei"/>
                <a:ea typeface="Microsoft YaHei"/>
              </a:rPr>
              <a:t>BUSINESS · 商业化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713232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A1A1A"/>
                </a:solidFill>
                <a:latin typeface="Microsoft YaHei"/>
                <a:ea typeface="Microsoft YaHei"/>
              </a:rPr>
              <a:t>收入模型、GTM 与融资规划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355080"/>
            <a:ext cx="731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00" b="0" i="0">
                <a:solidFill>
                  <a:srgbClr val="6B6F6A"/>
                </a:solidFill>
                <a:latin typeface="Microsoft YaHei"/>
                <a:ea typeface="Microsoft YaHe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F6A"/>
                </a:solidFill>
                <a:latin typeface="Microsoft YaHei"/>
                <a:ea typeface="Microsoft YaHei"/>
              </a:rPr>
              <a:t>熊猫花花 · HuaHua AI Companion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4630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A1A1A"/>
                </a:solidFill>
                <a:latin typeface="Microsoft YaHei"/>
                <a:ea typeface="Microsoft YaHei"/>
              </a:rPr>
              <a:t>收入模型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920240"/>
            <a:ext cx="5212080" cy="71323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1920240"/>
            <a:ext cx="128016" cy="713232"/>
          </a:xfrm>
          <a:prstGeom prst="roundRect">
            <a:avLst/>
          </a:prstGeom>
          <a:solidFill>
            <a:srgbClr val="4C9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920240"/>
            <a:ext cx="18288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Microsoft YaHei"/>
                <a:ea typeface="Microsoft YaHei"/>
              </a:rPr>
              <a:t>硬件销售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920240"/>
            <a:ext cx="31089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B6F6A"/>
                </a:solidFill>
                <a:latin typeface="Microsoft YaHei"/>
                <a:ea typeface="Microsoft YaHei"/>
              </a:rPr>
              <a:t>首发+多IP形象/限定款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761488"/>
            <a:ext cx="5212080" cy="71323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13232" y="2761488"/>
            <a:ext cx="128016" cy="713232"/>
          </a:xfrm>
          <a:prstGeom prst="roundRect">
            <a:avLst/>
          </a:prstGeom>
          <a:solidFill>
            <a:srgbClr val="E8A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761488"/>
            <a:ext cx="18288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Microsoft YaHei"/>
                <a:ea typeface="Microsoft YaHei"/>
              </a:rPr>
              <a:t>会员订阅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2761488"/>
            <a:ext cx="31089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B6F6A"/>
                </a:solidFill>
                <a:latin typeface="Microsoft YaHei"/>
                <a:ea typeface="Microsoft YaHei"/>
              </a:rPr>
              <a:t>高级对话/专属音色/云记忆扩容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3602736"/>
            <a:ext cx="5212080" cy="71323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13232" y="3602736"/>
            <a:ext cx="128016" cy="713232"/>
          </a:xfrm>
          <a:prstGeom prst="roundRect">
            <a:avLst/>
          </a:prstGeom>
          <a:solidFill>
            <a:srgbClr val="FF7A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602736"/>
            <a:ext cx="18288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Microsoft YaHei"/>
                <a:ea typeface="Microsoft YaHei"/>
              </a:rPr>
              <a:t>配件养成内购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80" y="3602736"/>
            <a:ext cx="31089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B6F6A"/>
                </a:solidFill>
                <a:latin typeface="Microsoft YaHei"/>
                <a:ea typeface="Microsoft YaHei"/>
              </a:rPr>
              <a:t>服饰/家具/技能包/节日皮肤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443984"/>
            <a:ext cx="5212080" cy="71323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13232" y="4443984"/>
            <a:ext cx="128016" cy="713232"/>
          </a:xfrm>
          <a:prstGeom prst="round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43984"/>
            <a:ext cx="18288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Microsoft YaHei"/>
                <a:ea typeface="Microsoft YaHei"/>
              </a:rPr>
              <a:t>IP联名内容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443984"/>
            <a:ext cx="310896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6B6F6A"/>
                </a:solidFill>
                <a:latin typeface="Microsoft YaHei"/>
                <a:ea typeface="Microsoft YaHei"/>
              </a:rPr>
              <a:t>花花直播/周边/品牌联名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14630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1A1A1A"/>
                </a:solidFill>
                <a:latin typeface="Microsoft YaHei"/>
                <a:ea typeface="Microsoft YaHei"/>
              </a:rPr>
              <a:t>融资用途建议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60" y="1920240"/>
            <a:ext cx="5166360" cy="713232"/>
          </a:xfrm>
          <a:prstGeom prst="roundRect">
            <a:avLst/>
          </a:prstGeom>
          <a:solidFill>
            <a:srgbClr val="E9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309360" y="1920240"/>
            <a:ext cx="2324953" cy="713232"/>
          </a:xfrm>
          <a:prstGeom prst="roundRect">
            <a:avLst/>
          </a:prstGeom>
          <a:solidFill>
            <a:srgbClr val="4C9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7960" y="1920240"/>
            <a:ext cx="3200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</a:rPr>
              <a:t>研发与打样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1920240"/>
            <a:ext cx="914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1A1A1A"/>
                </a:solidFill>
                <a:latin typeface="Microsoft YaHei"/>
                <a:ea typeface="Microsoft YaHei"/>
              </a:rPr>
              <a:t>45%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2761488"/>
            <a:ext cx="5166360" cy="713232"/>
          </a:xfrm>
          <a:prstGeom prst="roundRect">
            <a:avLst/>
          </a:prstGeom>
          <a:solidFill>
            <a:srgbClr val="E9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309360" y="2761488"/>
            <a:ext cx="1291681" cy="713232"/>
          </a:xfrm>
          <a:prstGeom prst="roundRect">
            <a:avLst/>
          </a:prstGeom>
          <a:solidFill>
            <a:srgbClr val="E8A8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7960" y="2761488"/>
            <a:ext cx="3200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</a:rPr>
              <a:t>IP授权与营销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2761488"/>
            <a:ext cx="914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1A1A1A"/>
                </a:solidFill>
                <a:latin typeface="Microsoft YaHei"/>
                <a:ea typeface="Microsoft YaHei"/>
              </a:rPr>
              <a:t>25%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09360" y="3602736"/>
            <a:ext cx="5166360" cy="713232"/>
          </a:xfrm>
          <a:prstGeom prst="roundRect">
            <a:avLst/>
          </a:prstGeom>
          <a:solidFill>
            <a:srgbClr val="E9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09360" y="3602736"/>
            <a:ext cx="1033363" cy="713232"/>
          </a:xfrm>
          <a:prstGeom prst="roundRect">
            <a:avLst/>
          </a:prstGeom>
          <a:solidFill>
            <a:srgbClr val="FF7A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37960" y="3602736"/>
            <a:ext cx="3200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Microsoft YaHei"/>
                <a:ea typeface="Microsoft YaHei"/>
              </a:rPr>
              <a:t>供应链与认证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424160" y="3602736"/>
            <a:ext cx="914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1A1A1A"/>
                </a:solidFill>
                <a:latin typeface="Microsoft YaHei"/>
                <a:ea typeface="Microsoft YaHei"/>
              </a:rPr>
              <a:t>20%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309360" y="4443984"/>
            <a:ext cx="5166360" cy="713232"/>
          </a:xfrm>
          <a:prstGeom prst="roundRect">
            <a:avLst/>
          </a:prstGeom>
          <a:solidFill>
            <a:srgbClr val="E9E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309360" y="4443984"/>
            <a:ext cx="516727" cy="713232"/>
          </a:xfrm>
          <a:prstGeom prst="round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37960" y="4443984"/>
            <a:ext cx="3200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A1A1A"/>
                </a:solidFill>
                <a:latin typeface="Microsoft YaHei"/>
                <a:ea typeface="Microsoft YaHei"/>
              </a:rPr>
              <a:t>团队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24160" y="4443984"/>
            <a:ext cx="914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600" b="1" i="0">
                <a:solidFill>
                  <a:srgbClr val="1A1A1A"/>
                </a:solidFill>
                <a:latin typeface="Microsoft YaHei"/>
                <a:ea typeface="Microsoft YaHei"/>
              </a:rPr>
              <a:t>10%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13232" y="5349240"/>
            <a:ext cx="10762488" cy="1051560"/>
          </a:xfrm>
          <a:prstGeom prst="round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" y="5468112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icrosoft YaHei"/>
                <a:ea typeface="Microsoft YaHei"/>
              </a:rPr>
              <a:t>GTM：众筹预售造势 → 萌宠/疗愈赛道 KOL 种草 → 花花 IP 流量导入 → 线下快闪/收藏展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5897880"/>
            <a:ext cx="10332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C9CEC2"/>
                </a:solidFill>
                <a:latin typeface="Microsoft YaHei"/>
                <a:ea typeface="Microsoft YaHei"/>
              </a:rPr>
              <a:t>估值锚点：竞品 Ropet 售出约 2 万台后完成超 1000 万美元 A 轮, 验证赛道资本热度。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4C9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4C9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878324" y="1257300"/>
            <a:ext cx="2423160" cy="2423160"/>
          </a:xfrm>
          <a:prstGeom prst="ellipse">
            <a:avLst/>
          </a:prstGeom>
          <a:solidFill>
            <a:srgbClr val="333D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uahua_circle_76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6904" y="1325880"/>
            <a:ext cx="2286000" cy="2286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379476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3000" b="1" i="0">
                <a:solidFill>
                  <a:srgbClr val="FFFFFF"/>
                </a:solidFill>
                <a:latin typeface="Microsoft YaHei"/>
                <a:ea typeface="Microsoft YaHei"/>
              </a:rPr>
              <a:t>让每个人都拥有一只</a:t>
            </a:r>
          </a:p>
          <a:p>
            <a:pPr algn="ctr">
              <a:lnSpc>
                <a:spcPct val="110000"/>
              </a:lnSpc>
            </a:pPr>
            <a:r>
              <a:rPr sz="3000" b="1" i="0">
                <a:solidFill>
                  <a:srgbClr val="FFFFFF"/>
                </a:solidFill>
                <a:latin typeface="Microsoft YaHei"/>
                <a:ea typeface="Microsoft YaHei"/>
              </a:rPr>
              <a:t>会眨眼、会陪伴、会长大的熊猫花花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07492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9CD66B"/>
                </a:solidFill>
                <a:latin typeface="Microsoft YaHei"/>
                <a:ea typeface="Microsoft YaHei"/>
              </a:rPr>
              <a:t>1:1 拟真外形 × 真实生命感 × 智能大脑 × 现象级 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85216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C9CEC2"/>
                </a:solidFill>
                <a:latin typeface="Microsoft YaHei"/>
                <a:ea typeface="Microsoft YaHei"/>
              </a:rPr>
              <a:t>诚邀您与我们一起，定义下一代情感陪伴机器人。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